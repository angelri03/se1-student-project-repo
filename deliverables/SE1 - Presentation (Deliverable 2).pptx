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3"/>
  </p:notesMasterIdLst>
  <p:sldIdLst>
    <p:sldId id="298" r:id="rId2"/>
    <p:sldId id="299" r:id="rId3"/>
    <p:sldId id="300" r:id="rId4"/>
    <p:sldId id="297" r:id="rId5"/>
    <p:sldId id="301" r:id="rId6"/>
    <p:sldId id="302" r:id="rId7"/>
    <p:sldId id="313" r:id="rId8"/>
    <p:sldId id="304" r:id="rId9"/>
    <p:sldId id="312" r:id="rId10"/>
    <p:sldId id="305" r:id="rId11"/>
    <p:sldId id="306" r:id="rId12"/>
    <p:sldId id="308" r:id="rId13"/>
    <p:sldId id="307" r:id="rId14"/>
    <p:sldId id="309" r:id="rId15"/>
    <p:sldId id="262" r:id="rId16"/>
    <p:sldId id="311" r:id="rId17"/>
    <p:sldId id="310" r:id="rId18"/>
    <p:sldId id="319" r:id="rId19"/>
    <p:sldId id="321" r:id="rId20"/>
    <p:sldId id="320" r:id="rId21"/>
    <p:sldId id="322" r:id="rId22"/>
  </p:sldIdLst>
  <p:sldSz cx="9144000" cy="5143500" type="screen16x9"/>
  <p:notesSz cx="6858000" cy="9144000"/>
  <p:embeddedFontLst>
    <p:embeddedFont>
      <p:font typeface="Epilogue" panose="020B0604020202020204" charset="0"/>
      <p:regular r:id="rId24"/>
      <p:bold r:id="rId25"/>
      <p:italic r:id="rId26"/>
      <p:boldItalic r:id="rId27"/>
    </p:embeddedFon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Nunito Light" pitchFamily="2" charset="0"/>
      <p:regular r:id="rId32"/>
      <p:italic r:id="rId33"/>
    </p:embeddedFont>
    <p:embeddedFont>
      <p:font typeface="Raleway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5E4910-C6E5-4922-B8AD-AEA71E69CAF1}">
  <a:tblStyle styleId="{955E4910-C6E5-4922-B8AD-AEA71E69CA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C3C20FE-273D-4DCE-B553-EB37F81C8F4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44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>
          <a:extLst>
            <a:ext uri="{FF2B5EF4-FFF2-40B4-BE49-F238E27FC236}">
              <a16:creationId xmlns:a16="http://schemas.microsoft.com/office/drawing/2014/main" id="{7193FDA0-C898-1DEB-0AD7-E2F7A0A2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>
            <a:extLst>
              <a:ext uri="{FF2B5EF4-FFF2-40B4-BE49-F238E27FC236}">
                <a16:creationId xmlns:a16="http://schemas.microsoft.com/office/drawing/2014/main" id="{BE7EFB80-6CAC-D46C-13D1-3820C307A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>
            <a:extLst>
              <a:ext uri="{FF2B5EF4-FFF2-40B4-BE49-F238E27FC236}">
                <a16:creationId xmlns:a16="http://schemas.microsoft.com/office/drawing/2014/main" id="{AD5041A6-4AF8-AA84-362A-46D7793B8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253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>
          <a:extLst>
            <a:ext uri="{FF2B5EF4-FFF2-40B4-BE49-F238E27FC236}">
              <a16:creationId xmlns:a16="http://schemas.microsoft.com/office/drawing/2014/main" id="{19D2DD5E-BBAB-6F05-E3BE-39F8B0DFC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d431007ba2_0_215:notes">
            <a:extLst>
              <a:ext uri="{FF2B5EF4-FFF2-40B4-BE49-F238E27FC236}">
                <a16:creationId xmlns:a16="http://schemas.microsoft.com/office/drawing/2014/main" id="{9EE07CFE-FED5-7A9B-BDF9-79FB74738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d431007ba2_0_215:notes">
            <a:extLst>
              <a:ext uri="{FF2B5EF4-FFF2-40B4-BE49-F238E27FC236}">
                <a16:creationId xmlns:a16="http://schemas.microsoft.com/office/drawing/2014/main" id="{5D046B5A-4F0A-CBCC-37ED-568227804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331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15D974D9-72C7-C611-2322-EACF966E8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366C28B8-8001-25AC-5043-69375916FD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A664401F-A000-DD30-BA5A-75A16E0685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8955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>
          <a:extLst>
            <a:ext uri="{FF2B5EF4-FFF2-40B4-BE49-F238E27FC236}">
              <a16:creationId xmlns:a16="http://schemas.microsoft.com/office/drawing/2014/main" id="{C82BD062-F19B-182D-2BC7-623ABE482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d431007ba2_0_208:notes">
            <a:extLst>
              <a:ext uri="{FF2B5EF4-FFF2-40B4-BE49-F238E27FC236}">
                <a16:creationId xmlns:a16="http://schemas.microsoft.com/office/drawing/2014/main" id="{A72F1446-8370-0F1C-C9BE-66BB4B79C6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d431007ba2_0_208:notes">
            <a:extLst>
              <a:ext uri="{FF2B5EF4-FFF2-40B4-BE49-F238E27FC236}">
                <a16:creationId xmlns:a16="http://schemas.microsoft.com/office/drawing/2014/main" id="{B3E0A230-7B90-65DC-BC26-C437A730AF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9330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>
          <a:extLst>
            <a:ext uri="{FF2B5EF4-FFF2-40B4-BE49-F238E27FC236}">
              <a16:creationId xmlns:a16="http://schemas.microsoft.com/office/drawing/2014/main" id="{FD3E357D-43E9-0459-D989-8F143013B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d431007ba2_0_208:notes">
            <a:extLst>
              <a:ext uri="{FF2B5EF4-FFF2-40B4-BE49-F238E27FC236}">
                <a16:creationId xmlns:a16="http://schemas.microsoft.com/office/drawing/2014/main" id="{1BDD8B3D-2C0B-015F-5848-BC0C9586D8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d431007ba2_0_208:notes">
            <a:extLst>
              <a:ext uri="{FF2B5EF4-FFF2-40B4-BE49-F238E27FC236}">
                <a16:creationId xmlns:a16="http://schemas.microsoft.com/office/drawing/2014/main" id="{10765E0E-BEBB-A92C-675C-64E807A70B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0242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>
          <a:extLst>
            <a:ext uri="{FF2B5EF4-FFF2-40B4-BE49-F238E27FC236}">
              <a16:creationId xmlns:a16="http://schemas.microsoft.com/office/drawing/2014/main" id="{44F4961B-B554-5B7F-0CC7-8C14C948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d431007ba2_0_208:notes">
            <a:extLst>
              <a:ext uri="{FF2B5EF4-FFF2-40B4-BE49-F238E27FC236}">
                <a16:creationId xmlns:a16="http://schemas.microsoft.com/office/drawing/2014/main" id="{E6E2B70B-3021-AA73-9D07-B94EF0757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d431007ba2_0_208:notes">
            <a:extLst>
              <a:ext uri="{FF2B5EF4-FFF2-40B4-BE49-F238E27FC236}">
                <a16:creationId xmlns:a16="http://schemas.microsoft.com/office/drawing/2014/main" id="{A5B6BD60-5F3F-5E99-3F57-DA24A499E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490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9833FF3A-5BED-C9D5-CB1B-80C9E7C7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D6B05680-D664-8442-AD0E-1E82FA7F5B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2E920DA4-44B9-4EBD-98A7-87E738A220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9177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9F59548C-F4CC-6366-8BBB-B9261171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0416CE51-FB4D-8AE4-EE62-3B66741BFC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BA668322-A805-5B09-55E7-D7037A2D71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7462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00BA7763-C039-1241-F3F3-320039956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E75D59B0-B20B-FFC3-820B-121613F2CD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2B2526AE-F5D1-3222-C87E-9EA6C4BFD1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4809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>
          <a:extLst>
            <a:ext uri="{FF2B5EF4-FFF2-40B4-BE49-F238E27FC236}">
              <a16:creationId xmlns:a16="http://schemas.microsoft.com/office/drawing/2014/main" id="{8D6277AF-8C18-D0B2-000E-203ABC4B9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172b1845856_1_196:notes">
            <a:extLst>
              <a:ext uri="{FF2B5EF4-FFF2-40B4-BE49-F238E27FC236}">
                <a16:creationId xmlns:a16="http://schemas.microsoft.com/office/drawing/2014/main" id="{8DC8908F-C8C1-9F3F-8BAF-25C717068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172b1845856_1_196:notes">
            <a:extLst>
              <a:ext uri="{FF2B5EF4-FFF2-40B4-BE49-F238E27FC236}">
                <a16:creationId xmlns:a16="http://schemas.microsoft.com/office/drawing/2014/main" id="{987C09C2-34F8-48CA-5E83-2DFA87081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562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7A65F248-B27B-9B72-1A8E-AD674182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B3308028-0B4D-5027-AF61-23F87BAD65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6FCDB707-771B-93EC-EC36-D9CA54BE6D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2075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2CC01DF9-4BB3-23D8-B0D6-591761A3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A1AE5BE3-E489-4285-75AB-AD5BCDEF7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FAD70F41-B386-BAED-3119-A99DA4CF64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6581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CE08DC2C-586A-87D8-B6DD-C22E67F89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F70AEFEA-CED4-71C7-0676-B788735A18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4E8219E2-86DF-AD83-851D-645A6A0845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8793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061CF944-3B97-D7C4-023B-1BE1D906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67123EFD-2581-3621-2044-E3B1526ED2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8A369A07-D44A-862D-5B4A-2F1A10ED89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7124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04D910D1-AB32-9EC8-BC6F-BCB863A9B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54dda1946d_4_2726:notes">
            <a:extLst>
              <a:ext uri="{FF2B5EF4-FFF2-40B4-BE49-F238E27FC236}">
                <a16:creationId xmlns:a16="http://schemas.microsoft.com/office/drawing/2014/main" id="{9AA4C05F-8066-BAA0-135F-1EE995F28B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54dda1946d_4_2726:notes">
            <a:extLst>
              <a:ext uri="{FF2B5EF4-FFF2-40B4-BE49-F238E27FC236}">
                <a16:creationId xmlns:a16="http://schemas.microsoft.com/office/drawing/2014/main" id="{118B4CF9-A184-FF21-6A53-6DB561763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36154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29B719B5-2983-5EF9-1486-3B3FADDF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54dda1946d_4_2701:notes">
            <a:extLst>
              <a:ext uri="{FF2B5EF4-FFF2-40B4-BE49-F238E27FC236}">
                <a16:creationId xmlns:a16="http://schemas.microsoft.com/office/drawing/2014/main" id="{87E5C1CC-A755-4821-36EF-670E0124FB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54dda1946d_4_2701:notes">
            <a:extLst>
              <a:ext uri="{FF2B5EF4-FFF2-40B4-BE49-F238E27FC236}">
                <a16:creationId xmlns:a16="http://schemas.microsoft.com/office/drawing/2014/main" id="{BDC49806-C7A2-0FD0-CCA9-A8B2DFBB17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5675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1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2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3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4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avLst/>
              <a:gdLst/>
              <a:ahLst/>
              <a:cxnLst/>
              <a:rect l="l" t="t" r="r" b="b"/>
              <a:pathLst>
                <a:path w="1633727" h="230504" extrusionOk="0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avLst/>
              <a:gdLst/>
              <a:ahLst/>
              <a:cxnLst/>
              <a:rect l="l" t="t" r="r" b="b"/>
              <a:pathLst>
                <a:path w="166485" h="165854" extrusionOk="0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avLst/>
              <a:gdLst/>
              <a:ahLst/>
              <a:cxnLst/>
              <a:rect l="l" t="t" r="r" b="b"/>
              <a:pathLst>
                <a:path w="7620" h="174307" extrusionOk="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rot="532502" flipH="1">
            <a:off x="-514115" y="4385276"/>
            <a:ext cx="1514959" cy="122499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1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4" name="Google Shape;164;p11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BE"/>
          </a:p>
        </p:txBody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20"/>
          <p:cNvSpPr/>
          <p:nvPr/>
        </p:nvSpPr>
        <p:spPr>
          <a:xfrm rot="337739" flipH="1">
            <a:off x="8212271" y="3187242"/>
            <a:ext cx="3158465" cy="3518480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9" name="Google Shape;589;p20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590" name="Google Shape;590;p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1" name="Google Shape;591;p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2" name="Google Shape;592;p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593" name="Google Shape;593;p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9" name="Google Shape;599;p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00" name="Google Shape;600;p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5" name="Google Shape;605;p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606" name="Google Shape;606;p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" name="Google Shape;607;p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608" name="Google Shape;608;p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4" name="Google Shape;614;p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615" name="Google Shape;615;p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9" name="Google Shape;619;p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0" name="Google Shape;620;p20"/>
          <p:cNvSpPr/>
          <p:nvPr/>
        </p:nvSpPr>
        <p:spPr>
          <a:xfrm rot="-3657034" flipH="1">
            <a:off x="-1404232" y="-737971"/>
            <a:ext cx="2746020" cy="16278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1" name="Google Shape;621;p20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22" name="Google Shape;622;p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23" name="Google Shape;623;p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4" name="Google Shape;624;p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25" name="Google Shape;625;p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8" name="Google Shape;628;p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29" name="Google Shape;629;p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0" name="Google Shape;630;p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31" name="Google Shape;631;p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32" name="Google Shape;632;p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4" name="Google Shape;634;p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35" name="Google Shape;635;p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7" name="Google Shape;637;p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38" name="Google Shape;638;p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1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43" name="Google Shape;643;p21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644" name="Google Shape;644;p21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5" name="Google Shape;645;p21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646" name="Google Shape;646;p21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9" name="Google Shape;649;p21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650" name="Google Shape;650;p21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2" name="Google Shape;652;p21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653" name="Google Shape;653;p21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654" name="Google Shape;654;p21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6" name="Google Shape;656;p21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21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658" name="Google Shape;658;p21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9" name="Google Shape;659;p21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660" name="Google Shape;660;p21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661" name="Google Shape;661;p21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662" name="Google Shape;662;p21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21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4" name="Google Shape;664;p21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665" name="Google Shape;665;p21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1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7" name="Google Shape;667;p21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668" name="Google Shape;668;p21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1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0" name="Google Shape;670;p21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3" name="Google Shape;673;p21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674" name="Google Shape;674;p21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7" name="Google Shape;677;p21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1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6" r:id="rId12"/>
    <p:sldLayoutId id="2147483667" r:id="rId13"/>
    <p:sldLayoutId id="2147483669" r:id="rId14"/>
    <p:sldLayoutId id="214748367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se1.insects.ltd:3000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>
          <a:extLst>
            <a:ext uri="{FF2B5EF4-FFF2-40B4-BE49-F238E27FC236}">
              <a16:creationId xmlns:a16="http://schemas.microsoft.com/office/drawing/2014/main" id="{F072C08E-2F95-77EA-016C-D5AB161E2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>
            <a:extLst>
              <a:ext uri="{FF2B5EF4-FFF2-40B4-BE49-F238E27FC236}">
                <a16:creationId xmlns:a16="http://schemas.microsoft.com/office/drawing/2014/main" id="{3EF121BC-F6E5-1E83-8772-D9F77346E56C}"/>
              </a:ext>
            </a:extLst>
          </p:cNvPr>
          <p:cNvSpPr/>
          <p:nvPr/>
        </p:nvSpPr>
        <p:spPr>
          <a:xfrm rot="1053742">
            <a:off x="4913265" y="435946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</p:txBody>
      </p:sp>
      <p:sp>
        <p:nvSpPr>
          <p:cNvPr id="755" name="Google Shape;755;p28">
            <a:extLst>
              <a:ext uri="{FF2B5EF4-FFF2-40B4-BE49-F238E27FC236}">
                <a16:creationId xmlns:a16="http://schemas.microsoft.com/office/drawing/2014/main" id="{5298437F-DA50-D554-265A-735E089F83F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3224" y="1144500"/>
            <a:ext cx="5381127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sz="4800" noProof="0"/>
              <a:t>University Student Project Repository</a:t>
            </a:r>
          </a:p>
        </p:txBody>
      </p:sp>
      <p:sp>
        <p:nvSpPr>
          <p:cNvPr id="756" name="Google Shape;756;p28">
            <a:extLst>
              <a:ext uri="{FF2B5EF4-FFF2-40B4-BE49-F238E27FC236}">
                <a16:creationId xmlns:a16="http://schemas.microsoft.com/office/drawing/2014/main" id="{754AB017-0501-C7D4-4018-7BB0072BA3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4" y="3523200"/>
            <a:ext cx="4806835" cy="7924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 dirty="0"/>
              <a:t>Angelica RINGS, Robert-Alexandru KISS, Enzo </a:t>
            </a:r>
            <a:r>
              <a:rPr lang="en-150" dirty="0"/>
              <a:t>VERDIER--TURRIN</a:t>
            </a:r>
            <a:r>
              <a:rPr lang="en-150" noProof="0" dirty="0"/>
              <a:t>, Louis COLBUS, Sven BARNICH</a:t>
            </a:r>
          </a:p>
        </p:txBody>
      </p:sp>
      <p:pic>
        <p:nvPicPr>
          <p:cNvPr id="5" name="Picture 4" descr="Database icon ">
            <a:extLst>
              <a:ext uri="{FF2B5EF4-FFF2-40B4-BE49-F238E27FC236}">
                <a16:creationId xmlns:a16="http://schemas.microsoft.com/office/drawing/2014/main" id="{4ED4C774-E966-4E9C-76E0-29DAC534C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328" y="1047204"/>
            <a:ext cx="2556860" cy="31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7758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>
          <a:extLst>
            <a:ext uri="{FF2B5EF4-FFF2-40B4-BE49-F238E27FC236}">
              <a16:creationId xmlns:a16="http://schemas.microsoft.com/office/drawing/2014/main" id="{75BB849A-F91D-BC39-FFC6-6AB1A83B4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0">
            <a:extLst>
              <a:ext uri="{FF2B5EF4-FFF2-40B4-BE49-F238E27FC236}">
                <a16:creationId xmlns:a16="http://schemas.microsoft.com/office/drawing/2014/main" id="{56ACC72A-8078-7EA6-7D75-9922DF244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Table of contents</a:t>
            </a:r>
          </a:p>
        </p:txBody>
      </p:sp>
      <p:sp>
        <p:nvSpPr>
          <p:cNvPr id="950" name="Google Shape;950;p30">
            <a:extLst>
              <a:ext uri="{FF2B5EF4-FFF2-40B4-BE49-F238E27FC236}">
                <a16:creationId xmlns:a16="http://schemas.microsoft.com/office/drawing/2014/main" id="{AF7BA46B-8B18-1A41-15AC-ED51DF445A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01</a:t>
            </a:r>
          </a:p>
        </p:txBody>
      </p:sp>
      <p:sp>
        <p:nvSpPr>
          <p:cNvPr id="951" name="Google Shape;951;p30">
            <a:extLst>
              <a:ext uri="{FF2B5EF4-FFF2-40B4-BE49-F238E27FC236}">
                <a16:creationId xmlns:a16="http://schemas.microsoft.com/office/drawing/2014/main" id="{8EB76E02-33A4-3F80-9371-42B88BC1DA94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6519545" y="1203238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04</a:t>
            </a:r>
          </a:p>
        </p:txBody>
      </p:sp>
      <p:sp>
        <p:nvSpPr>
          <p:cNvPr id="952" name="Google Shape;952;p30">
            <a:extLst>
              <a:ext uri="{FF2B5EF4-FFF2-40B4-BE49-F238E27FC236}">
                <a16:creationId xmlns:a16="http://schemas.microsoft.com/office/drawing/2014/main" id="{D13A0613-B4A5-3C6E-9B83-CA84FD775599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2820693" y="1203238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02</a:t>
            </a:r>
          </a:p>
        </p:txBody>
      </p:sp>
      <p:sp>
        <p:nvSpPr>
          <p:cNvPr id="953" name="Google Shape;953;p30">
            <a:extLst>
              <a:ext uri="{FF2B5EF4-FFF2-40B4-BE49-F238E27FC236}">
                <a16:creationId xmlns:a16="http://schemas.microsoft.com/office/drawing/2014/main" id="{C9FE90EA-85AF-442D-7EDC-8B0950512F34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100975" y="2799777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05</a:t>
            </a:r>
          </a:p>
        </p:txBody>
      </p:sp>
      <p:sp>
        <p:nvSpPr>
          <p:cNvPr id="954" name="Google Shape;954;p30">
            <a:extLst>
              <a:ext uri="{FF2B5EF4-FFF2-40B4-BE49-F238E27FC236}">
                <a16:creationId xmlns:a16="http://schemas.microsoft.com/office/drawing/2014/main" id="{0D162382-405F-9AE7-0F58-BD6EB2292149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4540411" y="1203238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03</a:t>
            </a:r>
          </a:p>
        </p:txBody>
      </p:sp>
      <p:sp>
        <p:nvSpPr>
          <p:cNvPr id="955" name="Google Shape;955;p30">
            <a:extLst>
              <a:ext uri="{FF2B5EF4-FFF2-40B4-BE49-F238E27FC236}">
                <a16:creationId xmlns:a16="http://schemas.microsoft.com/office/drawing/2014/main" id="{BE1175D0-7A0F-098C-BA1F-529AB677D422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2820693" y="2794349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06</a:t>
            </a:r>
          </a:p>
        </p:txBody>
      </p:sp>
      <p:sp>
        <p:nvSpPr>
          <p:cNvPr id="956" name="Google Shape;956;p30">
            <a:extLst>
              <a:ext uri="{FF2B5EF4-FFF2-40B4-BE49-F238E27FC236}">
                <a16:creationId xmlns:a16="http://schemas.microsoft.com/office/drawing/2014/main" id="{AAF44C71-E550-0A24-C770-0061E77165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Motivation</a:t>
            </a:r>
          </a:p>
        </p:txBody>
      </p:sp>
      <p:sp>
        <p:nvSpPr>
          <p:cNvPr id="957" name="Google Shape;957;p30">
            <a:extLst>
              <a:ext uri="{FF2B5EF4-FFF2-40B4-BE49-F238E27FC236}">
                <a16:creationId xmlns:a16="http://schemas.microsoft.com/office/drawing/2014/main" id="{EF82D0CF-1875-BB5C-B6E8-72EFA106F1B7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2820693" y="192411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Users</a:t>
            </a:r>
          </a:p>
        </p:txBody>
      </p:sp>
      <p:sp>
        <p:nvSpPr>
          <p:cNvPr id="958" name="Google Shape;958;p30">
            <a:extLst>
              <a:ext uri="{FF2B5EF4-FFF2-40B4-BE49-F238E27FC236}">
                <a16:creationId xmlns:a16="http://schemas.microsoft.com/office/drawing/2014/main" id="{0BB5FB68-18EB-541B-4703-BAACE3AAF183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4540411" y="191234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150" noProof="0"/>
              <a:t>Functional Requirements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</p:txBody>
      </p:sp>
      <p:sp>
        <p:nvSpPr>
          <p:cNvPr id="959" name="Google Shape;959;p30">
            <a:extLst>
              <a:ext uri="{FF2B5EF4-FFF2-40B4-BE49-F238E27FC236}">
                <a16:creationId xmlns:a16="http://schemas.microsoft.com/office/drawing/2014/main" id="{AA1D792B-2462-2290-3F53-3AB18D9A5457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6519545" y="191238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Non-Functional Requirements </a:t>
            </a:r>
          </a:p>
        </p:txBody>
      </p:sp>
      <p:sp>
        <p:nvSpPr>
          <p:cNvPr id="960" name="Google Shape;960;p30">
            <a:extLst>
              <a:ext uri="{FF2B5EF4-FFF2-40B4-BE49-F238E27FC236}">
                <a16:creationId xmlns:a16="http://schemas.microsoft.com/office/drawing/2014/main" id="{1AFE8913-92D9-3A0B-2D9D-D7170A3AA59C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1100975" y="3508924"/>
            <a:ext cx="2087068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Use Cases</a:t>
            </a:r>
          </a:p>
        </p:txBody>
      </p:sp>
      <p:sp>
        <p:nvSpPr>
          <p:cNvPr id="961" name="Google Shape;961;p30">
            <a:extLst>
              <a:ext uri="{FF2B5EF4-FFF2-40B4-BE49-F238E27FC236}">
                <a16:creationId xmlns:a16="http://schemas.microsoft.com/office/drawing/2014/main" id="{009503B7-5454-BDC6-1B66-FA13ADBD4827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2820693" y="3508789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System Architecture </a:t>
            </a:r>
          </a:p>
        </p:txBody>
      </p:sp>
      <p:sp>
        <p:nvSpPr>
          <p:cNvPr id="2" name="Google Shape;955;p30">
            <a:extLst>
              <a:ext uri="{FF2B5EF4-FFF2-40B4-BE49-F238E27FC236}">
                <a16:creationId xmlns:a16="http://schemas.microsoft.com/office/drawing/2014/main" id="{3C1E0BB8-6B4C-626B-E74C-EC117625A7F6}"/>
              </a:ext>
            </a:extLst>
          </p:cNvPr>
          <p:cNvSpPr txBox="1">
            <a:spLocks/>
          </p:cNvSpPr>
          <p:nvPr/>
        </p:nvSpPr>
        <p:spPr>
          <a:xfrm>
            <a:off x="4540411" y="2794349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150" noProof="0"/>
              <a:t>07</a:t>
            </a:r>
          </a:p>
        </p:txBody>
      </p:sp>
      <p:sp>
        <p:nvSpPr>
          <p:cNvPr id="3" name="Google Shape;961;p30">
            <a:extLst>
              <a:ext uri="{FF2B5EF4-FFF2-40B4-BE49-F238E27FC236}">
                <a16:creationId xmlns:a16="http://schemas.microsoft.com/office/drawing/2014/main" id="{5FF5E522-9646-F6E4-C6CC-72F2C430BC5B}"/>
              </a:ext>
            </a:extLst>
          </p:cNvPr>
          <p:cNvSpPr txBox="1">
            <a:spLocks/>
          </p:cNvSpPr>
          <p:nvPr/>
        </p:nvSpPr>
        <p:spPr>
          <a:xfrm>
            <a:off x="4540411" y="3503496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150" noProof="0"/>
              <a:t>Live Demo</a:t>
            </a:r>
          </a:p>
        </p:txBody>
      </p:sp>
      <p:sp>
        <p:nvSpPr>
          <p:cNvPr id="4" name="Google Shape;955;p30">
            <a:extLst>
              <a:ext uri="{FF2B5EF4-FFF2-40B4-BE49-F238E27FC236}">
                <a16:creationId xmlns:a16="http://schemas.microsoft.com/office/drawing/2014/main" id="{930F6771-2078-C8D7-7B6E-CFBEF212A860}"/>
              </a:ext>
            </a:extLst>
          </p:cNvPr>
          <p:cNvSpPr txBox="1">
            <a:spLocks/>
          </p:cNvSpPr>
          <p:nvPr/>
        </p:nvSpPr>
        <p:spPr>
          <a:xfrm>
            <a:off x="6519545" y="2794349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150" noProof="0"/>
              <a:t>08</a:t>
            </a:r>
          </a:p>
        </p:txBody>
      </p:sp>
      <p:sp>
        <p:nvSpPr>
          <p:cNvPr id="5" name="Google Shape;961;p30">
            <a:extLst>
              <a:ext uri="{FF2B5EF4-FFF2-40B4-BE49-F238E27FC236}">
                <a16:creationId xmlns:a16="http://schemas.microsoft.com/office/drawing/2014/main" id="{822C85C0-602E-001E-7C52-E4B414813BEF}"/>
              </a:ext>
            </a:extLst>
          </p:cNvPr>
          <p:cNvSpPr txBox="1">
            <a:spLocks/>
          </p:cNvSpPr>
          <p:nvPr/>
        </p:nvSpPr>
        <p:spPr>
          <a:xfrm>
            <a:off x="6519545" y="3503496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150" noProof="0"/>
              <a:t>Retrospective</a:t>
            </a:r>
          </a:p>
        </p:txBody>
      </p:sp>
    </p:spTree>
    <p:extLst>
      <p:ext uri="{BB962C8B-B14F-4D97-AF65-F5344CB8AC3E}">
        <p14:creationId xmlns:p14="http://schemas.microsoft.com/office/powerpoint/2010/main" val="314230665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D69F7ABA-0E9B-9FF5-9067-E4324A255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3F619BAF-C8B4-8133-1B06-1DA7FD3C87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Why make a student project repository? </a:t>
            </a:r>
          </a:p>
        </p:txBody>
      </p:sp>
      <p:sp>
        <p:nvSpPr>
          <p:cNvPr id="1111" name="Google Shape;1111;p34">
            <a:extLst>
              <a:ext uri="{FF2B5EF4-FFF2-40B4-BE49-F238E27FC236}">
                <a16:creationId xmlns:a16="http://schemas.microsoft.com/office/drawing/2014/main" id="{FFF7DC17-7BD6-D14F-2D35-7D6A761D5F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79150" y="2453573"/>
            <a:ext cx="3384300" cy="15895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/>
              <a:t>Centralized DB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/>
              <a:t>Showcased projects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/>
              <a:t>Searchable by tags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/>
              <a:t>Accessible to all students and supervised by administrators </a:t>
            </a:r>
          </a:p>
        </p:txBody>
      </p:sp>
      <p:sp>
        <p:nvSpPr>
          <p:cNvPr id="1112" name="Google Shape;1112;p34">
            <a:extLst>
              <a:ext uri="{FF2B5EF4-FFF2-40B4-BE49-F238E27FC236}">
                <a16:creationId xmlns:a16="http://schemas.microsoft.com/office/drawing/2014/main" id="{588CE228-B23E-6B56-3C04-BBB7DE86FD3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80525" y="2453573"/>
            <a:ext cx="3384300" cy="15895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/>
              <a:t>Lost files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/>
              <a:t>Fragmented </a:t>
            </a:r>
            <a:r>
              <a:rPr lang="fr-FR"/>
              <a:t>st</a:t>
            </a:r>
            <a:r>
              <a:rPr lang="en-150" noProof="0"/>
              <a:t>orage</a:t>
            </a:r>
          </a:p>
          <a:p>
            <a:pPr marL="432000" lvl="1" indent="-171450" algn="l">
              <a:buFont typeface="Wingdings" panose="05000000000000000000" pitchFamily="2" charset="2"/>
              <a:buChar char="Ø"/>
            </a:pPr>
            <a:r>
              <a:rPr lang="en-150" noProof="0"/>
              <a:t>Projects scattered across Moodle</a:t>
            </a:r>
          </a:p>
          <a:p>
            <a:pPr marL="432000" lvl="1" indent="-171450" algn="l">
              <a:buFont typeface="Wingdings" panose="05000000000000000000" pitchFamily="2" charset="2"/>
              <a:buChar char="Ø"/>
            </a:pPr>
            <a:r>
              <a:rPr lang="en-150" noProof="0"/>
              <a:t>Local hard drives</a:t>
            </a:r>
          </a:p>
          <a:p>
            <a:pPr marL="432000" lvl="1" indent="-171450" algn="l">
              <a:buFont typeface="Wingdings" panose="05000000000000000000" pitchFamily="2" charset="2"/>
              <a:buChar char="Ø"/>
            </a:pPr>
            <a:r>
              <a:rPr lang="en-150" noProof="0"/>
              <a:t>Descriptions in loose </a:t>
            </a:r>
            <a:r>
              <a:rPr lang="fr-FR" noProof="0"/>
              <a:t>e</a:t>
            </a:r>
            <a:r>
              <a:rPr lang="en-150" noProof="0"/>
              <a:t>mails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/>
              <a:t>Inaccessible to all students </a:t>
            </a:r>
          </a:p>
        </p:txBody>
      </p:sp>
      <p:sp>
        <p:nvSpPr>
          <p:cNvPr id="1113" name="Google Shape;1113;p34">
            <a:extLst>
              <a:ext uri="{FF2B5EF4-FFF2-40B4-BE49-F238E27FC236}">
                <a16:creationId xmlns:a16="http://schemas.microsoft.com/office/drawing/2014/main" id="{48D22B8F-FABC-E7A7-6605-5FED8EFADA9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The Problem:</a:t>
            </a:r>
          </a:p>
        </p:txBody>
      </p:sp>
      <p:sp>
        <p:nvSpPr>
          <p:cNvPr id="1109" name="Google Shape;1109;p34">
            <a:extLst>
              <a:ext uri="{FF2B5EF4-FFF2-40B4-BE49-F238E27FC236}">
                <a16:creationId xmlns:a16="http://schemas.microsoft.com/office/drawing/2014/main" id="{3E79C060-9890-D731-3F64-A578C84809C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Our proposed Solution:</a:t>
            </a:r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0BB086E0-AE65-2AE8-8517-B6A3C91FE655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B649A549-375E-2575-28A7-A9885A490ED3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150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D82A63D8-FBC5-2F9F-265D-51988261C6F1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AF5B9C4C-397F-D3D6-8D3D-FA7FCC7CFE24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D1B187C4-F05D-5A5D-2A67-ABE3F7532C89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0E59F275-AE55-ADEA-A2FC-86B6494FF6DF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11984C3B-5292-35DE-9D4B-361DFF2F98FC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A876EC95-C8A2-95A0-6D00-347397319EDC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6FE4D72D-A2C8-9578-7271-206F563A47E2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11F42703-EBCC-89D0-3FC7-76892BFC4418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AAD7702E-DE22-DB43-F094-56F845EEB18F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72E8D418-9C5A-6614-FFA8-80A0E78E3379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E0F52CD8-E0DE-A66B-50FA-B5AF710BB468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FE174AF1-1A09-E4FD-17D8-619EB5612046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A99C7410-574D-1AB5-637A-8110981F0082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202D4F75-F8BC-3053-1824-106EDB16E1DF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191319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A95B77-7D16-4431-81A1-62572A71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150" noProof="0"/>
              <a:t>Users</a:t>
            </a:r>
          </a:p>
        </p:txBody>
      </p:sp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86047F86-BE98-C694-8A26-BBD39C48D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782033"/>
              </p:ext>
            </p:extLst>
          </p:nvPr>
        </p:nvGraphicFramePr>
        <p:xfrm>
          <a:off x="1131248" y="1137787"/>
          <a:ext cx="6881504" cy="2867925"/>
        </p:xfrm>
        <a:graphic>
          <a:graphicData uri="http://schemas.openxmlformats.org/drawingml/2006/table">
            <a:tbl>
              <a:tblPr firstRow="1" bandRow="1">
                <a:tableStyleId>{955E4910-C6E5-4922-B8AD-AEA71E69CAF1}</a:tableStyleId>
              </a:tblPr>
              <a:tblGrid>
                <a:gridCol w="2288752">
                  <a:extLst>
                    <a:ext uri="{9D8B030D-6E8A-4147-A177-3AD203B41FA5}">
                      <a16:colId xmlns:a16="http://schemas.microsoft.com/office/drawing/2014/main" val="225976699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4098902366"/>
                    </a:ext>
                  </a:extLst>
                </a:gridCol>
                <a:gridCol w="2288752">
                  <a:extLst>
                    <a:ext uri="{9D8B030D-6E8A-4147-A177-3AD203B41FA5}">
                      <a16:colId xmlns:a16="http://schemas.microsoft.com/office/drawing/2014/main" val="1224694122"/>
                    </a:ext>
                  </a:extLst>
                </a:gridCol>
              </a:tblGrid>
              <a:tr h="659945">
                <a:tc>
                  <a:txBody>
                    <a:bodyPr/>
                    <a:lstStyle/>
                    <a:p>
                      <a:pPr algn="ctr"/>
                      <a:r>
                        <a:rPr lang="en-150" sz="1200" b="1" i="0" u="sng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Students</a:t>
                      </a:r>
                      <a:endParaRPr lang="en-150" sz="1200" u="sng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150" sz="1200" b="1" i="0" u="sng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Professors and Recruiters</a:t>
                      </a:r>
                      <a:endParaRPr lang="en-150" sz="1200" u="sng" noProof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algn="ctr"/>
                      <a:endParaRPr lang="en-150" sz="1200" u="sng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150" sz="1200" b="1" i="0" u="sng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Administrator</a:t>
                      </a:r>
                      <a:endParaRPr lang="en-150" sz="1200" u="sng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1523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algn="ctr" rtl="0"/>
                      <a:r>
                        <a:rPr lang="en-150" sz="12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Upload and manage their project</a:t>
                      </a:r>
                      <a:endParaRPr lang="en-150" sz="1200" b="0" noProof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150" sz="12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Brows</a:t>
                      </a:r>
                      <a:r>
                        <a:rPr lang="fr-FR" sz="12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e</a:t>
                      </a:r>
                      <a:r>
                        <a:rPr lang="en-150" sz="12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 projects</a:t>
                      </a:r>
                      <a:endParaRPr lang="en-150" sz="1200" b="0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150" sz="12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Approve new uploads</a:t>
                      </a:r>
                      <a:endParaRPr lang="en-150" sz="1200" b="0" noProof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algn="ctr"/>
                      <a:endParaRPr lang="en-150" sz="1200" b="0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098404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150" sz="12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Manage profile</a:t>
                      </a:r>
                      <a:endParaRPr lang="en-150" sz="1200" b="0" noProof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algn="ctr"/>
                      <a:endParaRPr lang="en-150" sz="1200" b="0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150" sz="12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Rate projects</a:t>
                      </a:r>
                      <a:endParaRPr lang="en-150" sz="1200" b="0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150" sz="12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Remove inappropriate or outdated content</a:t>
                      </a:r>
                      <a:endParaRPr lang="en-150" sz="1200" b="0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198655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algn="ctr"/>
                      <a:r>
                        <a:rPr lang="en-150" sz="12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Rat</a:t>
                      </a:r>
                      <a:r>
                        <a:rPr lang="fr-FR" sz="12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e</a:t>
                      </a:r>
                      <a:r>
                        <a:rPr lang="en-150" sz="12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 other projects</a:t>
                      </a:r>
                      <a:endParaRPr lang="en-150" sz="1200" b="0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1200" b="0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1200" b="0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234217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150" sz="1200" b="0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View portfolio</a:t>
                      </a:r>
                      <a:endParaRPr lang="en-150" sz="1200" b="0" noProof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algn="ctr"/>
                      <a:endParaRPr lang="en-150" sz="1200" b="0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1200" b="0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1200" b="0" noProof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lgDash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18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98130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>
          <a:extLst>
            <a:ext uri="{FF2B5EF4-FFF2-40B4-BE49-F238E27FC236}">
              <a16:creationId xmlns:a16="http://schemas.microsoft.com/office/drawing/2014/main" id="{A85714F3-C68A-9534-52CB-CB0C79582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9">
            <a:extLst>
              <a:ext uri="{FF2B5EF4-FFF2-40B4-BE49-F238E27FC236}">
                <a16:creationId xmlns:a16="http://schemas.microsoft.com/office/drawing/2014/main" id="{60C7415A-B811-FB4E-D0DE-F18A6887E8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Functional Requirements</a:t>
            </a:r>
          </a:p>
        </p:txBody>
      </p:sp>
      <p:graphicFrame>
        <p:nvGraphicFramePr>
          <p:cNvPr id="941" name="Google Shape;941;p29">
            <a:extLst>
              <a:ext uri="{FF2B5EF4-FFF2-40B4-BE49-F238E27FC236}">
                <a16:creationId xmlns:a16="http://schemas.microsoft.com/office/drawing/2014/main" id="{0F7E07C8-9275-8892-B502-4ECDC5EBF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0090296"/>
              </p:ext>
            </p:extLst>
          </p:nvPr>
        </p:nvGraphicFramePr>
        <p:xfrm>
          <a:off x="720000" y="1239130"/>
          <a:ext cx="8033763" cy="3253725"/>
        </p:xfrm>
        <a:graphic>
          <a:graphicData uri="http://schemas.openxmlformats.org/drawingml/2006/table">
            <a:tbl>
              <a:tblPr>
                <a:noFill/>
                <a:tableStyleId>{955E4910-C6E5-4922-B8AD-AEA71E69CAF1}</a:tableStyleId>
              </a:tblPr>
              <a:tblGrid>
                <a:gridCol w="2797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650">
                  <a:extLst>
                    <a:ext uri="{9D8B030D-6E8A-4147-A177-3AD203B41FA5}">
                      <a16:colId xmlns:a16="http://schemas.microsoft.com/office/drawing/2014/main" val="2933777787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1" u="sng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Users/Students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1" u="sng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Professors/Recruiters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1" u="sng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Website Administrators 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 in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 in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 into Admin account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Upload Project Files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Browse Projects (with filter)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Approve new uploaded Projects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Edit / Delete uploaded Projects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View Student Profiles &amp; Project Details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 inappropriate or outdated Projects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 Student Profile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View Student Profiles &amp; Project Details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 Project Collaborators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View other students’ Profiles &amp; Project Details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182608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Rate other students’ Projects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587679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View average star rating per Project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1136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189BC07-3DF1-9360-21E9-26FE7ABC3E76}"/>
              </a:ext>
            </a:extLst>
          </p:cNvPr>
          <p:cNvSpPr txBox="1"/>
          <p:nvPr/>
        </p:nvSpPr>
        <p:spPr>
          <a:xfrm>
            <a:off x="6918050" y="223620"/>
            <a:ext cx="1746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150" sz="1100" noProof="0">
                <a:solidFill>
                  <a:schemeClr val="bg1">
                    <a:lumMod val="10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Software Engineering 1</a:t>
            </a:r>
          </a:p>
        </p:txBody>
      </p:sp>
    </p:spTree>
    <p:extLst>
      <p:ext uri="{BB962C8B-B14F-4D97-AF65-F5344CB8AC3E}">
        <p14:creationId xmlns:p14="http://schemas.microsoft.com/office/powerpoint/2010/main" val="113549642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>
          <a:extLst>
            <a:ext uri="{FF2B5EF4-FFF2-40B4-BE49-F238E27FC236}">
              <a16:creationId xmlns:a16="http://schemas.microsoft.com/office/drawing/2014/main" id="{1A802312-FC3C-940B-98E8-DAF1ADD6D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9">
            <a:extLst>
              <a:ext uri="{FF2B5EF4-FFF2-40B4-BE49-F238E27FC236}">
                <a16:creationId xmlns:a16="http://schemas.microsoft.com/office/drawing/2014/main" id="{787B01A3-E790-B19C-E7EF-81993A4CCD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Non-Functional Requirements</a:t>
            </a:r>
          </a:p>
        </p:txBody>
      </p:sp>
      <p:graphicFrame>
        <p:nvGraphicFramePr>
          <p:cNvPr id="941" name="Google Shape;941;p29">
            <a:extLst>
              <a:ext uri="{FF2B5EF4-FFF2-40B4-BE49-F238E27FC236}">
                <a16:creationId xmlns:a16="http://schemas.microsoft.com/office/drawing/2014/main" id="{B87A6BD2-5DBD-D362-FF1C-E61B343336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1980937"/>
              </p:ext>
            </p:extLst>
          </p:nvPr>
        </p:nvGraphicFramePr>
        <p:xfrm>
          <a:off x="720000" y="1239130"/>
          <a:ext cx="7704000" cy="2530675"/>
        </p:xfrm>
        <a:graphic>
          <a:graphicData uri="http://schemas.openxmlformats.org/drawingml/2006/table">
            <a:tbl>
              <a:tblPr>
                <a:noFill/>
                <a:tableStyleId>{955E4910-C6E5-4922-B8AD-AEA71E69CAF1}</a:tableStyleId>
              </a:tblPr>
              <a:tblGrid>
                <a:gridCol w="246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650">
                  <a:extLst>
                    <a:ext uri="{9D8B030D-6E8A-4147-A177-3AD203B41FA5}">
                      <a16:colId xmlns:a16="http://schemas.microsoft.com/office/drawing/2014/main" val="2933777787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sng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Performance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1" u="sng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Performance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1" u="sng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Storage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Fully functional on screens from 360px to 1920px width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Support at least 200 concurrent users without performance degradation</a:t>
                      </a: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Must support files up to 500 MB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Response time of &lt; 3 seconds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99.5% uptime during Uni business hours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Store Project Data in a structured DB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Modular architecture for simplicity</a:t>
                      </a: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150" sz="1000" b="0" u="none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150" sz="1000" b="0" u="none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1" u="sng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</a:rPr>
                        <a:t>Accessibility</a:t>
                      </a:r>
                      <a:endParaRPr lang="en-150" sz="1000" b="1" u="sng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1" u="sng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</a:rPr>
                        <a:t>Security</a:t>
                      </a:r>
                      <a:endParaRPr lang="en-150" sz="1000" b="0" u="none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799805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Adhere to the Web Content Accessibility Guidelines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US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35363B"/>
                          </a:solidFill>
                          <a:latin typeface="Lato"/>
                        </a:rPr>
                        <a:t>Hash </a:t>
                      </a:r>
                      <a:r>
                        <a:rPr lang="en-US" sz="1000" b="0" i="0" u="none" strike="noStrike" noProof="0">
                          <a:solidFill>
                            <a:srgbClr val="35363B"/>
                          </a:solidFill>
                          <a:latin typeface="Lato"/>
                        </a:rPr>
                        <a:t>and salt </a:t>
                      </a:r>
                      <a:r>
                        <a:rPr lang="en-US" sz="1000" b="0" i="0" u="none" strike="noStrike" noProof="0" dirty="0">
                          <a:solidFill>
                            <a:srgbClr val="35363B"/>
                          </a:solidFill>
                          <a:latin typeface="Lato"/>
                        </a:rPr>
                        <a:t>all passwords before saving</a:t>
                      </a:r>
                      <a:endParaRPr lang="en-US" dirty="0"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58767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48CBE9A-1BBB-6325-E183-BFBE72096F35}"/>
              </a:ext>
            </a:extLst>
          </p:cNvPr>
          <p:cNvSpPr txBox="1"/>
          <p:nvPr/>
        </p:nvSpPr>
        <p:spPr>
          <a:xfrm>
            <a:off x="6918050" y="223620"/>
            <a:ext cx="1746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150" sz="1100" noProof="0">
                <a:solidFill>
                  <a:schemeClr val="bg1">
                    <a:lumMod val="10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Software Engineering 1</a:t>
            </a:r>
          </a:p>
        </p:txBody>
      </p:sp>
    </p:spTree>
    <p:extLst>
      <p:ext uri="{BB962C8B-B14F-4D97-AF65-F5344CB8AC3E}">
        <p14:creationId xmlns:p14="http://schemas.microsoft.com/office/powerpoint/2010/main" val="53786898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>
          <a:extLst>
            <a:ext uri="{FF2B5EF4-FFF2-40B4-BE49-F238E27FC236}">
              <a16:creationId xmlns:a16="http://schemas.microsoft.com/office/drawing/2014/main" id="{F6428982-1684-64FF-9860-897A2AA0F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9">
            <a:extLst>
              <a:ext uri="{FF2B5EF4-FFF2-40B4-BE49-F238E27FC236}">
                <a16:creationId xmlns:a16="http://schemas.microsoft.com/office/drawing/2014/main" id="{540173E9-43B4-0222-1465-F79175DDE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150" noProof="0"/>
              <a:t>Requirements</a:t>
            </a:r>
            <a:r>
              <a:rPr lang="en-150"/>
              <a:t>: Not Met</a:t>
            </a:r>
            <a:endParaRPr lang="en-150" noProof="0"/>
          </a:p>
        </p:txBody>
      </p:sp>
      <p:graphicFrame>
        <p:nvGraphicFramePr>
          <p:cNvPr id="941" name="Google Shape;941;p29">
            <a:extLst>
              <a:ext uri="{FF2B5EF4-FFF2-40B4-BE49-F238E27FC236}">
                <a16:creationId xmlns:a16="http://schemas.microsoft.com/office/drawing/2014/main" id="{1001AC95-537C-190A-E815-A8DB5785C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5793822"/>
              </p:ext>
            </p:extLst>
          </p:nvPr>
        </p:nvGraphicFramePr>
        <p:xfrm>
          <a:off x="720000" y="1239130"/>
          <a:ext cx="8033763" cy="2530675"/>
        </p:xfrm>
        <a:graphic>
          <a:graphicData uri="http://schemas.openxmlformats.org/drawingml/2006/table">
            <a:tbl>
              <a:tblPr>
                <a:noFill/>
                <a:tableStyleId>{955E4910-C6E5-4922-B8AD-AEA71E69CAF1}</a:tableStyleId>
              </a:tblPr>
              <a:tblGrid>
                <a:gridCol w="2797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650">
                  <a:extLst>
                    <a:ext uri="{9D8B030D-6E8A-4147-A177-3AD203B41FA5}">
                      <a16:colId xmlns:a16="http://schemas.microsoft.com/office/drawing/2014/main" val="2933777787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1" u="sng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Users/Students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1" u="sng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Professors/Recruiters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1" u="sng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Website Administrators 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 in using university email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 in</a:t>
                      </a: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</a:rPr>
                        <a:t> using email</a:t>
                      </a: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Access content modification logs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150" sz="1000" b="0" u="none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sng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Security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b="1" i="0" u="sng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Storage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1" u="sng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</a:rPr>
                        <a:t>Accessibility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Maintain history of all content modifications and admin actions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Monthly backups retained for 60 Days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</a:rPr>
                        <a:t>Adhere to the Web Content Accessibility Guidelines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Lato"/>
                        </a:rPr>
                        <a:t>Secure HTTPS access</a:t>
                      </a:r>
                      <a:endParaRPr lang="en-US"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150" sz="1000" b="0" u="none" noProof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</a:rPr>
                        <a:t>Scan for potentially malicious files</a:t>
                      </a: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150" sz="1000" b="0" u="none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1826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FAC9429-BBAB-9802-06E8-D4749DC5E067}"/>
              </a:ext>
            </a:extLst>
          </p:cNvPr>
          <p:cNvSpPr txBox="1"/>
          <p:nvPr/>
        </p:nvSpPr>
        <p:spPr>
          <a:xfrm>
            <a:off x="6918050" y="223620"/>
            <a:ext cx="1746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150" sz="1100" noProof="0">
                <a:solidFill>
                  <a:schemeClr val="bg1">
                    <a:lumMod val="10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Software Engineering 1</a:t>
            </a:r>
          </a:p>
        </p:txBody>
      </p:sp>
    </p:spTree>
    <p:extLst>
      <p:ext uri="{BB962C8B-B14F-4D97-AF65-F5344CB8AC3E}">
        <p14:creationId xmlns:p14="http://schemas.microsoft.com/office/powerpoint/2010/main" val="29019158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428001A5-A685-B75F-8605-554E31E11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6AD614C3-8629-DAD8-A80D-1205239D1E75}"/>
              </a:ext>
            </a:extLst>
          </p:cNvPr>
          <p:cNvSpPr/>
          <p:nvPr/>
        </p:nvSpPr>
        <p:spPr>
          <a:xfrm rot="4500170">
            <a:off x="4542346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BAA103E9-22D2-EAE5-3706-16C8A174E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4" y="1032900"/>
            <a:ext cx="4390611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Use Case</a:t>
            </a:r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8DB6856D-679C-0A6C-ECE0-9A0860BE2B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Upload Project Use Case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Core User actors: </a:t>
            </a:r>
            <a:r>
              <a:rPr lang="en-150" i="1" noProof="0"/>
              <a:t>Student, Administrator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Core User flow:</a:t>
            </a: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Upload Project(s) including </a:t>
            </a:r>
            <a:r>
              <a:rPr lang="en-150" i="1" noProof="0">
                <a:sym typeface="Wingdings" panose="05000000000000000000" pitchFamily="2" charset="2"/>
              </a:rPr>
              <a:t>Media, Course Info, Abstract</a:t>
            </a: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Manage Project(s)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>
              <a:sym typeface="Wingdings" panose="05000000000000000000" pitchFamily="2" charset="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>
                <a:sym typeface="Wingdings" panose="05000000000000000000" pitchFamily="2" charset="2"/>
              </a:rPr>
              <a:t>Crucial Dependency:</a:t>
            </a: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Administrator needs to </a:t>
            </a:r>
            <a:r>
              <a:rPr lang="en-150" b="1" noProof="0">
                <a:sym typeface="Wingdings" panose="05000000000000000000" pitchFamily="2" charset="2"/>
              </a:rPr>
              <a:t>approve</a:t>
            </a:r>
            <a:r>
              <a:rPr lang="en-150" noProof="0">
                <a:sym typeface="Wingdings" panose="05000000000000000000" pitchFamily="2" charset="2"/>
              </a:rPr>
              <a:t> Project before it’s publicly displayed</a:t>
            </a:r>
          </a:p>
          <a:p>
            <a:pPr marL="152550" indent="0">
              <a:buNone/>
            </a:pPr>
            <a:endParaRPr lang="en-150" noProof="0">
              <a:sym typeface="Wingdings" panose="05000000000000000000" pitchFamily="2" charset="2"/>
            </a:endParaRPr>
          </a:p>
        </p:txBody>
      </p:sp>
      <p:grpSp>
        <p:nvGrpSpPr>
          <p:cNvPr id="970" name="Google Shape;970;p31">
            <a:extLst>
              <a:ext uri="{FF2B5EF4-FFF2-40B4-BE49-F238E27FC236}">
                <a16:creationId xmlns:a16="http://schemas.microsoft.com/office/drawing/2014/main" id="{929B494F-0066-5E46-76AA-8517CFAE9FFD}"/>
              </a:ext>
            </a:extLst>
          </p:cNvPr>
          <p:cNvGrpSpPr/>
          <p:nvPr/>
        </p:nvGrpSpPr>
        <p:grpSpPr>
          <a:xfrm>
            <a:off x="7875610" y="386632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>
              <a:extLst>
                <a:ext uri="{FF2B5EF4-FFF2-40B4-BE49-F238E27FC236}">
                  <a16:creationId xmlns:a16="http://schemas.microsoft.com/office/drawing/2014/main" id="{0897DE47-E48E-FFF7-A937-DFD0916C5864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>
                <a:extLst>
                  <a:ext uri="{FF2B5EF4-FFF2-40B4-BE49-F238E27FC236}">
                    <a16:creationId xmlns:a16="http://schemas.microsoft.com/office/drawing/2014/main" id="{107EE25A-C29B-6BE9-B0A2-00B6C8F424D0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>
                <a:extLst>
                  <a:ext uri="{FF2B5EF4-FFF2-40B4-BE49-F238E27FC236}">
                    <a16:creationId xmlns:a16="http://schemas.microsoft.com/office/drawing/2014/main" id="{5DCE7584-5BDD-5C03-9E9B-B48D3F6211F4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>
                <a:extLst>
                  <a:ext uri="{FF2B5EF4-FFF2-40B4-BE49-F238E27FC236}">
                    <a16:creationId xmlns:a16="http://schemas.microsoft.com/office/drawing/2014/main" id="{D843453C-D28C-2DE5-6163-5477A856F09E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>
                  <a:extLst>
                    <a:ext uri="{FF2B5EF4-FFF2-40B4-BE49-F238E27FC236}">
                      <a16:creationId xmlns:a16="http://schemas.microsoft.com/office/drawing/2014/main" id="{F9DF4691-3AFB-C1C4-E436-CA573F207748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>
                  <a:extLst>
                    <a:ext uri="{FF2B5EF4-FFF2-40B4-BE49-F238E27FC236}">
                      <a16:creationId xmlns:a16="http://schemas.microsoft.com/office/drawing/2014/main" id="{6D0417A7-82E8-1FAB-6550-34233EB9F23E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>
                  <a:extLst>
                    <a:ext uri="{FF2B5EF4-FFF2-40B4-BE49-F238E27FC236}">
                      <a16:creationId xmlns:a16="http://schemas.microsoft.com/office/drawing/2014/main" id="{53161DBA-A37E-AE63-08B5-E152895FBFBD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>
                  <a:extLst>
                    <a:ext uri="{FF2B5EF4-FFF2-40B4-BE49-F238E27FC236}">
                      <a16:creationId xmlns:a16="http://schemas.microsoft.com/office/drawing/2014/main" id="{F2E99EB0-5629-977E-874B-686AD307544B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>
              <a:extLst>
                <a:ext uri="{FF2B5EF4-FFF2-40B4-BE49-F238E27FC236}">
                  <a16:creationId xmlns:a16="http://schemas.microsoft.com/office/drawing/2014/main" id="{48E0670A-E3FF-2D7B-227E-2F2B1E9AF3AB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>
                <a:extLst>
                  <a:ext uri="{FF2B5EF4-FFF2-40B4-BE49-F238E27FC236}">
                    <a16:creationId xmlns:a16="http://schemas.microsoft.com/office/drawing/2014/main" id="{2F249DF2-58D8-971C-BEA5-828A6DAAB0FC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>
                <a:extLst>
                  <a:ext uri="{FF2B5EF4-FFF2-40B4-BE49-F238E27FC236}">
                    <a16:creationId xmlns:a16="http://schemas.microsoft.com/office/drawing/2014/main" id="{D208CF94-A35B-C10D-5067-95A5B52B3860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>
                <a:extLst>
                  <a:ext uri="{FF2B5EF4-FFF2-40B4-BE49-F238E27FC236}">
                    <a16:creationId xmlns:a16="http://schemas.microsoft.com/office/drawing/2014/main" id="{B4A31523-9873-9CBF-D837-F459BA9A9344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>
                  <a:extLst>
                    <a:ext uri="{FF2B5EF4-FFF2-40B4-BE49-F238E27FC236}">
                      <a16:creationId xmlns:a16="http://schemas.microsoft.com/office/drawing/2014/main" id="{14BA7FC1-A853-E37C-BDCD-F5E8278FC2C7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>
                  <a:extLst>
                    <a:ext uri="{FF2B5EF4-FFF2-40B4-BE49-F238E27FC236}">
                      <a16:creationId xmlns:a16="http://schemas.microsoft.com/office/drawing/2014/main" id="{4E16199B-0B2C-D4D6-6D31-607ABAE76E8F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>
                  <a:extLst>
                    <a:ext uri="{FF2B5EF4-FFF2-40B4-BE49-F238E27FC236}">
                      <a16:creationId xmlns:a16="http://schemas.microsoft.com/office/drawing/2014/main" id="{7D18EED7-265E-17E4-ACA8-06FA55284747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>
                  <a:extLst>
                    <a:ext uri="{FF2B5EF4-FFF2-40B4-BE49-F238E27FC236}">
                      <a16:creationId xmlns:a16="http://schemas.microsoft.com/office/drawing/2014/main" id="{DBCF500E-641D-BD2F-D601-D88FBF8CD8B0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424143A4-5846-8825-1277-94ACA3BDE928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150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>
              <a:extLst>
                <a:ext uri="{FF2B5EF4-FFF2-40B4-BE49-F238E27FC236}">
                  <a16:creationId xmlns:a16="http://schemas.microsoft.com/office/drawing/2014/main" id="{81FA5249-0053-B896-694D-D350ACC37B9C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>
                <a:extLst>
                  <a:ext uri="{FF2B5EF4-FFF2-40B4-BE49-F238E27FC236}">
                    <a16:creationId xmlns:a16="http://schemas.microsoft.com/office/drawing/2014/main" id="{4CA09E4C-F073-5B3C-6421-ABA2419AC5A6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>
                <a:extLst>
                  <a:ext uri="{FF2B5EF4-FFF2-40B4-BE49-F238E27FC236}">
                    <a16:creationId xmlns:a16="http://schemas.microsoft.com/office/drawing/2014/main" id="{DD5C3CB1-D5DD-B290-5CD4-3A05B2E75527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>
                <a:extLst>
                  <a:ext uri="{FF2B5EF4-FFF2-40B4-BE49-F238E27FC236}">
                    <a16:creationId xmlns:a16="http://schemas.microsoft.com/office/drawing/2014/main" id="{D5FD18B6-5265-32C9-162F-08555C7F3778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>
                  <a:extLst>
                    <a:ext uri="{FF2B5EF4-FFF2-40B4-BE49-F238E27FC236}">
                      <a16:creationId xmlns:a16="http://schemas.microsoft.com/office/drawing/2014/main" id="{27527D2C-0C34-8071-2B34-E4F77C31D4CE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>
                  <a:extLst>
                    <a:ext uri="{FF2B5EF4-FFF2-40B4-BE49-F238E27FC236}">
                      <a16:creationId xmlns:a16="http://schemas.microsoft.com/office/drawing/2014/main" id="{B847E715-5CF3-0D8D-17B9-B5B79AE0C1A2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>
                  <a:extLst>
                    <a:ext uri="{FF2B5EF4-FFF2-40B4-BE49-F238E27FC236}">
                      <a16:creationId xmlns:a16="http://schemas.microsoft.com/office/drawing/2014/main" id="{B6EC3DA8-C0C7-95A9-FE7F-9EF748F52208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>
                  <a:extLst>
                    <a:ext uri="{FF2B5EF4-FFF2-40B4-BE49-F238E27FC236}">
                      <a16:creationId xmlns:a16="http://schemas.microsoft.com/office/drawing/2014/main" id="{B60D9335-9B66-A2EC-EC63-548A063611CA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>
              <a:extLst>
                <a:ext uri="{FF2B5EF4-FFF2-40B4-BE49-F238E27FC236}">
                  <a16:creationId xmlns:a16="http://schemas.microsoft.com/office/drawing/2014/main" id="{6E7005E8-7F07-37B4-926A-04A43C2B1523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>
                <a:extLst>
                  <a:ext uri="{FF2B5EF4-FFF2-40B4-BE49-F238E27FC236}">
                    <a16:creationId xmlns:a16="http://schemas.microsoft.com/office/drawing/2014/main" id="{6369FAC1-B527-F585-79C6-87AD7DE6BF34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>
                  <a:extLst>
                    <a:ext uri="{FF2B5EF4-FFF2-40B4-BE49-F238E27FC236}">
                      <a16:creationId xmlns:a16="http://schemas.microsoft.com/office/drawing/2014/main" id="{ED32DFD4-41BB-3E84-68B9-66F059C07D9F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>
                  <a:extLst>
                    <a:ext uri="{FF2B5EF4-FFF2-40B4-BE49-F238E27FC236}">
                      <a16:creationId xmlns:a16="http://schemas.microsoft.com/office/drawing/2014/main" id="{1F93F0DF-3CEF-151E-C65C-F8E9B6EDE829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>
                  <a:extLst>
                    <a:ext uri="{FF2B5EF4-FFF2-40B4-BE49-F238E27FC236}">
                      <a16:creationId xmlns:a16="http://schemas.microsoft.com/office/drawing/2014/main" id="{90949493-2D5A-348B-0A05-89E06FAB7A21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>
                    <a:extLst>
                      <a:ext uri="{FF2B5EF4-FFF2-40B4-BE49-F238E27FC236}">
                        <a16:creationId xmlns:a16="http://schemas.microsoft.com/office/drawing/2014/main" id="{B9CE8A71-2E49-F078-4D2C-63468644DE36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>
                    <a:extLst>
                      <a:ext uri="{FF2B5EF4-FFF2-40B4-BE49-F238E27FC236}">
                        <a16:creationId xmlns:a16="http://schemas.microsoft.com/office/drawing/2014/main" id="{F298925F-B2B1-4560-4AB2-8B791084A661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>
                    <a:extLst>
                      <a:ext uri="{FF2B5EF4-FFF2-40B4-BE49-F238E27FC236}">
                        <a16:creationId xmlns:a16="http://schemas.microsoft.com/office/drawing/2014/main" id="{7548A547-77E3-425B-ED05-BDD927106388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>
                    <a:extLst>
                      <a:ext uri="{FF2B5EF4-FFF2-40B4-BE49-F238E27FC236}">
                        <a16:creationId xmlns:a16="http://schemas.microsoft.com/office/drawing/2014/main" id="{DAC2D2A4-C03E-4195-38B6-2BFAB0D6F2DA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>
                <a:extLst>
                  <a:ext uri="{FF2B5EF4-FFF2-40B4-BE49-F238E27FC236}">
                    <a16:creationId xmlns:a16="http://schemas.microsoft.com/office/drawing/2014/main" id="{91F3A20B-DE01-481A-D866-BD26A55BE2E5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>
              <a:extLst>
                <a:ext uri="{FF2B5EF4-FFF2-40B4-BE49-F238E27FC236}">
                  <a16:creationId xmlns:a16="http://schemas.microsoft.com/office/drawing/2014/main" id="{829E56C2-F2C4-1BA7-83C6-5419F9471B62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>
                <a:extLst>
                  <a:ext uri="{FF2B5EF4-FFF2-40B4-BE49-F238E27FC236}">
                    <a16:creationId xmlns:a16="http://schemas.microsoft.com/office/drawing/2014/main" id="{48084847-850E-DA11-18F3-7176540D64E3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>
                <a:extLst>
                  <a:ext uri="{FF2B5EF4-FFF2-40B4-BE49-F238E27FC236}">
                    <a16:creationId xmlns:a16="http://schemas.microsoft.com/office/drawing/2014/main" id="{69184E30-DE27-F602-476D-43D153F5CB5B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>
              <a:extLst>
                <a:ext uri="{FF2B5EF4-FFF2-40B4-BE49-F238E27FC236}">
                  <a16:creationId xmlns:a16="http://schemas.microsoft.com/office/drawing/2014/main" id="{D09CCCF9-6A36-40CA-B658-8182E70D8B4D}"/>
                </a:ext>
              </a:extLst>
            </p:cNvPr>
            <p:cNvGrpSpPr/>
            <p:nvPr/>
          </p:nvGrpSpPr>
          <p:grpSpPr>
            <a:xfrm>
              <a:off x="7816120" y="4902803"/>
              <a:ext cx="123062" cy="63817"/>
              <a:chOff x="7816120" y="4902803"/>
              <a:chExt cx="123062" cy="63817"/>
            </a:xfrm>
          </p:grpSpPr>
          <p:grpSp>
            <p:nvGrpSpPr>
              <p:cNvPr id="1010" name="Google Shape;1010;p31">
                <a:extLst>
                  <a:ext uri="{FF2B5EF4-FFF2-40B4-BE49-F238E27FC236}">
                    <a16:creationId xmlns:a16="http://schemas.microsoft.com/office/drawing/2014/main" id="{F5822E02-9BF1-F0BE-E573-F3073386404F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>
                  <a:extLst>
                    <a:ext uri="{FF2B5EF4-FFF2-40B4-BE49-F238E27FC236}">
                      <a16:creationId xmlns:a16="http://schemas.microsoft.com/office/drawing/2014/main" id="{6886C697-0644-EC77-301E-08F4E9DCDAE6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>
                  <a:extLst>
                    <a:ext uri="{FF2B5EF4-FFF2-40B4-BE49-F238E27FC236}">
                      <a16:creationId xmlns:a16="http://schemas.microsoft.com/office/drawing/2014/main" id="{5FFA0F10-2B30-8FCC-8B85-1031FF3A3085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>
                <a:extLst>
                  <a:ext uri="{FF2B5EF4-FFF2-40B4-BE49-F238E27FC236}">
                    <a16:creationId xmlns:a16="http://schemas.microsoft.com/office/drawing/2014/main" id="{D7217C7B-AAFC-107D-F757-7B8956599108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" name="Picture 2" descr="A diagram of a project&#10;&#10;AI-generated content may be incorrect.">
            <a:extLst>
              <a:ext uri="{FF2B5EF4-FFF2-40B4-BE49-F238E27FC236}">
                <a16:creationId xmlns:a16="http://schemas.microsoft.com/office/drawing/2014/main" id="{1880A288-033F-14D9-0B24-BC9F18878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395" y="1425785"/>
            <a:ext cx="3565278" cy="23197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74863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43D91D0F-AABC-2ECA-A7EE-363AF3A86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6CA1C3A3-E333-D09E-70DA-CE075250AF34}"/>
              </a:ext>
            </a:extLst>
          </p:cNvPr>
          <p:cNvSpPr/>
          <p:nvPr/>
        </p:nvSpPr>
        <p:spPr>
          <a:xfrm rot="4500170">
            <a:off x="4633046" y="-1385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E55E87D0-946D-39D4-23AD-5EF1FC6CBB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4" y="1032900"/>
            <a:ext cx="4390611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Use Case</a:t>
            </a:r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2BA42E5C-62FB-BE16-B1D8-E1A855E1BD9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Project Rating Use Case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Core User Actors: </a:t>
            </a:r>
            <a:r>
              <a:rPr lang="en-150" i="1" noProof="0"/>
              <a:t>Student, Professor</a:t>
            </a:r>
            <a:r>
              <a:rPr lang="fr-FR" i="1" noProof="0"/>
              <a:t>/</a:t>
            </a:r>
            <a:r>
              <a:rPr lang="fr-FR" i="1" noProof="0" err="1"/>
              <a:t>Recruiter</a:t>
            </a:r>
            <a:endParaRPr lang="en-150" i="1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Core User flow:</a:t>
            </a: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noProof="0" err="1">
                <a:sym typeface="Wingdings" panose="05000000000000000000" pitchFamily="2" charset="2"/>
              </a:rPr>
              <a:t>Browse</a:t>
            </a:r>
            <a:r>
              <a:rPr lang="fr-FR" noProof="0">
                <a:sym typeface="Wingdings" panose="05000000000000000000" pitchFamily="2" charset="2"/>
              </a:rPr>
              <a:t> </a:t>
            </a:r>
            <a:r>
              <a:rPr lang="fr-FR" noProof="0" err="1">
                <a:sym typeface="Wingdings" panose="05000000000000000000" pitchFamily="2" charset="2"/>
              </a:rPr>
              <a:t>approved</a:t>
            </a:r>
            <a:r>
              <a:rPr lang="fr-FR" noProof="0">
                <a:sym typeface="Wingdings" panose="05000000000000000000" pitchFamily="2" charset="2"/>
              </a:rPr>
              <a:t> </a:t>
            </a:r>
            <a:r>
              <a:rPr lang="fr-FR" noProof="0" err="1">
                <a:sym typeface="Wingdings" panose="05000000000000000000" pitchFamily="2" charset="2"/>
              </a:rPr>
              <a:t>project</a:t>
            </a:r>
            <a:r>
              <a:rPr lang="fr-FR">
                <a:sym typeface="Wingdings" panose="05000000000000000000" pitchFamily="2" charset="2"/>
              </a:rPr>
              <a:t>s</a:t>
            </a: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err="1">
                <a:sym typeface="Wingdings" panose="05000000000000000000" pitchFamily="2" charset="2"/>
              </a:rPr>
              <a:t>View</a:t>
            </a:r>
            <a:r>
              <a:rPr lang="fr-FR">
                <a:sym typeface="Wingdings" panose="05000000000000000000" pitchFamily="2" charset="2"/>
              </a:rPr>
              <a:t> </a:t>
            </a:r>
            <a:r>
              <a:rPr lang="fr-FR" err="1">
                <a:sym typeface="Wingdings" panose="05000000000000000000" pitchFamily="2" charset="2"/>
              </a:rPr>
              <a:t>project</a:t>
            </a:r>
            <a:r>
              <a:rPr lang="fr-FR">
                <a:sym typeface="Wingdings" panose="05000000000000000000" pitchFamily="2" charset="2"/>
              </a:rPr>
              <a:t> </a:t>
            </a:r>
            <a:r>
              <a:rPr lang="fr-FR" err="1">
                <a:sym typeface="Wingdings" panose="05000000000000000000" pitchFamily="2" charset="2"/>
              </a:rPr>
              <a:t>details</a:t>
            </a:r>
            <a:endParaRPr lang="fr-FR">
              <a:sym typeface="Wingdings" panose="05000000000000000000" pitchFamily="2" charset="2"/>
            </a:endParaRP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>
                <a:sym typeface="Wingdings" panose="05000000000000000000" pitchFamily="2" charset="2"/>
              </a:rPr>
              <a:t>Rate a </a:t>
            </a:r>
            <a:r>
              <a:rPr lang="fr-FR" err="1">
                <a:sym typeface="Wingdings" panose="05000000000000000000" pitchFamily="2" charset="2"/>
              </a:rPr>
              <a:t>project</a:t>
            </a:r>
            <a:r>
              <a:rPr lang="fr-FR">
                <a:sym typeface="Wingdings" panose="05000000000000000000" pitchFamily="2" charset="2"/>
              </a:rPr>
              <a:t> </a:t>
            </a:r>
            <a:r>
              <a:rPr lang="fr-FR" err="1">
                <a:sym typeface="Wingdings" panose="05000000000000000000" pitchFamily="2" charset="2"/>
              </a:rPr>
              <a:t>with</a:t>
            </a:r>
            <a:r>
              <a:rPr lang="fr-FR">
                <a:sym typeface="Wingdings" panose="05000000000000000000" pitchFamily="2" charset="2"/>
              </a:rPr>
              <a:t> a star-</a:t>
            </a:r>
            <a:r>
              <a:rPr lang="fr-FR" err="1">
                <a:sym typeface="Wingdings" panose="05000000000000000000" pitchFamily="2" charset="2"/>
              </a:rPr>
              <a:t>based</a:t>
            </a:r>
            <a:r>
              <a:rPr lang="fr-FR">
                <a:sym typeface="Wingdings" panose="05000000000000000000" pitchFamily="2" charset="2"/>
              </a:rPr>
              <a:t> rating</a:t>
            </a:r>
            <a:endParaRPr lang="en-150" noProof="0">
              <a:sym typeface="Wingdings" panose="05000000000000000000" pitchFamily="2" charset="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>
              <a:sym typeface="Wingdings" panose="05000000000000000000" pitchFamily="2" charset="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>
                <a:sym typeface="Wingdings" panose="05000000000000000000" pitchFamily="2" charset="2"/>
              </a:rPr>
              <a:t>Crucial Dependency:</a:t>
            </a: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noProof="0">
                <a:sym typeface="Wingdings" panose="05000000000000000000" pitchFamily="2" charset="2"/>
              </a:rPr>
              <a:t>User must </a:t>
            </a:r>
            <a:r>
              <a:rPr lang="fr-FR" noProof="0" err="1">
                <a:sym typeface="Wingdings" panose="05000000000000000000" pitchFamily="2" charset="2"/>
              </a:rPr>
              <a:t>be</a:t>
            </a:r>
            <a:r>
              <a:rPr lang="fr-FR" noProof="0">
                <a:sym typeface="Wingdings" panose="05000000000000000000" pitchFamily="2" charset="2"/>
              </a:rPr>
              <a:t> </a:t>
            </a:r>
            <a:r>
              <a:rPr lang="fr-FR" noProof="0" err="1">
                <a:sym typeface="Wingdings" panose="05000000000000000000" pitchFamily="2" charset="2"/>
              </a:rPr>
              <a:t>logged</a:t>
            </a:r>
            <a:r>
              <a:rPr lang="fr-FR" noProof="0">
                <a:sym typeface="Wingdings" panose="05000000000000000000" pitchFamily="2" charset="2"/>
              </a:rPr>
              <a:t> in to </a:t>
            </a:r>
            <a:r>
              <a:rPr lang="fr-FR" noProof="0" err="1">
                <a:sym typeface="Wingdings" panose="05000000000000000000" pitchFamily="2" charset="2"/>
              </a:rPr>
              <a:t>submit</a:t>
            </a:r>
            <a:r>
              <a:rPr lang="fr-FR" noProof="0">
                <a:sym typeface="Wingdings" panose="05000000000000000000" pitchFamily="2" charset="2"/>
              </a:rPr>
              <a:t> a rating</a:t>
            </a: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>
                <a:sym typeface="Wingdings" panose="05000000000000000000" pitchFamily="2" charset="2"/>
              </a:rPr>
              <a:t>User </a:t>
            </a:r>
            <a:r>
              <a:rPr lang="fr-FR" err="1">
                <a:sym typeface="Wingdings" panose="05000000000000000000" pitchFamily="2" charset="2"/>
              </a:rPr>
              <a:t>can’t</a:t>
            </a:r>
            <a:r>
              <a:rPr lang="fr-FR">
                <a:sym typeface="Wingdings" panose="05000000000000000000" pitchFamily="2" charset="2"/>
              </a:rPr>
              <a:t> rate </a:t>
            </a:r>
            <a:r>
              <a:rPr lang="fr-FR" err="1">
                <a:sym typeface="Wingdings" panose="05000000000000000000" pitchFamily="2" charset="2"/>
              </a:rPr>
              <a:t>its</a:t>
            </a:r>
            <a:r>
              <a:rPr lang="fr-FR">
                <a:sym typeface="Wingdings" panose="05000000000000000000" pitchFamily="2" charset="2"/>
              </a:rPr>
              <a:t> </a:t>
            </a:r>
            <a:r>
              <a:rPr lang="fr-FR" err="1">
                <a:sym typeface="Wingdings" panose="05000000000000000000" pitchFamily="2" charset="2"/>
              </a:rPr>
              <a:t>own</a:t>
            </a:r>
            <a:r>
              <a:rPr lang="fr-FR">
                <a:sym typeface="Wingdings" panose="05000000000000000000" pitchFamily="2" charset="2"/>
              </a:rPr>
              <a:t> project</a:t>
            </a:r>
            <a:endParaRPr lang="en-150" noProof="0">
              <a:sym typeface="Wingdings" panose="05000000000000000000" pitchFamily="2" charset="2"/>
            </a:endParaRPr>
          </a:p>
          <a:p>
            <a:pPr marL="152550" indent="0">
              <a:buNone/>
            </a:pPr>
            <a:endParaRPr lang="en-150" noProof="0">
              <a:sym typeface="Wingdings" panose="05000000000000000000" pitchFamily="2" charset="2"/>
            </a:endParaRPr>
          </a:p>
        </p:txBody>
      </p:sp>
      <p:grpSp>
        <p:nvGrpSpPr>
          <p:cNvPr id="970" name="Google Shape;970;p31">
            <a:extLst>
              <a:ext uri="{FF2B5EF4-FFF2-40B4-BE49-F238E27FC236}">
                <a16:creationId xmlns:a16="http://schemas.microsoft.com/office/drawing/2014/main" id="{D24E3F4C-AB51-68A0-5B42-E5EA8646E110}"/>
              </a:ext>
            </a:extLst>
          </p:cNvPr>
          <p:cNvGrpSpPr/>
          <p:nvPr/>
        </p:nvGrpSpPr>
        <p:grpSpPr>
          <a:xfrm>
            <a:off x="7875610" y="386632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>
              <a:extLst>
                <a:ext uri="{FF2B5EF4-FFF2-40B4-BE49-F238E27FC236}">
                  <a16:creationId xmlns:a16="http://schemas.microsoft.com/office/drawing/2014/main" id="{BAF3C30C-4F98-3E22-C95A-0260C8736EEB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>
                <a:extLst>
                  <a:ext uri="{FF2B5EF4-FFF2-40B4-BE49-F238E27FC236}">
                    <a16:creationId xmlns:a16="http://schemas.microsoft.com/office/drawing/2014/main" id="{95CC86CA-AF9E-4858-FB85-DF38A24A6A88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>
                <a:extLst>
                  <a:ext uri="{FF2B5EF4-FFF2-40B4-BE49-F238E27FC236}">
                    <a16:creationId xmlns:a16="http://schemas.microsoft.com/office/drawing/2014/main" id="{B306FF79-7154-A151-45AB-CA26199A0039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>
                <a:extLst>
                  <a:ext uri="{FF2B5EF4-FFF2-40B4-BE49-F238E27FC236}">
                    <a16:creationId xmlns:a16="http://schemas.microsoft.com/office/drawing/2014/main" id="{09BB9FCC-F920-82FE-5A85-14077E302988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>
                  <a:extLst>
                    <a:ext uri="{FF2B5EF4-FFF2-40B4-BE49-F238E27FC236}">
                      <a16:creationId xmlns:a16="http://schemas.microsoft.com/office/drawing/2014/main" id="{889B4480-534D-BBB3-6AFD-CD0724082F27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>
                  <a:extLst>
                    <a:ext uri="{FF2B5EF4-FFF2-40B4-BE49-F238E27FC236}">
                      <a16:creationId xmlns:a16="http://schemas.microsoft.com/office/drawing/2014/main" id="{254E5157-EE0E-D3AB-6F0A-FDE093FA6528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>
                  <a:extLst>
                    <a:ext uri="{FF2B5EF4-FFF2-40B4-BE49-F238E27FC236}">
                      <a16:creationId xmlns:a16="http://schemas.microsoft.com/office/drawing/2014/main" id="{B5EAFAF2-78E3-DB3B-3F3A-F6951355D272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>
                  <a:extLst>
                    <a:ext uri="{FF2B5EF4-FFF2-40B4-BE49-F238E27FC236}">
                      <a16:creationId xmlns:a16="http://schemas.microsoft.com/office/drawing/2014/main" id="{D74D8E7A-2BF3-B524-070D-749EBF9BC289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>
              <a:extLst>
                <a:ext uri="{FF2B5EF4-FFF2-40B4-BE49-F238E27FC236}">
                  <a16:creationId xmlns:a16="http://schemas.microsoft.com/office/drawing/2014/main" id="{8C679408-56E4-5626-A674-16A409EA32DB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>
                <a:extLst>
                  <a:ext uri="{FF2B5EF4-FFF2-40B4-BE49-F238E27FC236}">
                    <a16:creationId xmlns:a16="http://schemas.microsoft.com/office/drawing/2014/main" id="{BBFCFEDC-4C0F-E4AD-30AD-DA9298AEDC3E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>
                <a:extLst>
                  <a:ext uri="{FF2B5EF4-FFF2-40B4-BE49-F238E27FC236}">
                    <a16:creationId xmlns:a16="http://schemas.microsoft.com/office/drawing/2014/main" id="{59B78CBD-E520-BD41-D39D-115C68090238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>
                <a:extLst>
                  <a:ext uri="{FF2B5EF4-FFF2-40B4-BE49-F238E27FC236}">
                    <a16:creationId xmlns:a16="http://schemas.microsoft.com/office/drawing/2014/main" id="{B28E1DE9-2399-3F6B-DCA8-DB8D55EF2273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>
                  <a:extLst>
                    <a:ext uri="{FF2B5EF4-FFF2-40B4-BE49-F238E27FC236}">
                      <a16:creationId xmlns:a16="http://schemas.microsoft.com/office/drawing/2014/main" id="{7CFF72B2-A797-CBA5-9EF3-C540F94465F5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>
                  <a:extLst>
                    <a:ext uri="{FF2B5EF4-FFF2-40B4-BE49-F238E27FC236}">
                      <a16:creationId xmlns:a16="http://schemas.microsoft.com/office/drawing/2014/main" id="{D820B4FF-281F-1E29-D1C5-C0A42C6B0E78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>
                  <a:extLst>
                    <a:ext uri="{FF2B5EF4-FFF2-40B4-BE49-F238E27FC236}">
                      <a16:creationId xmlns:a16="http://schemas.microsoft.com/office/drawing/2014/main" id="{482A9B08-E667-16B8-4F75-897367630260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>
                  <a:extLst>
                    <a:ext uri="{FF2B5EF4-FFF2-40B4-BE49-F238E27FC236}">
                      <a16:creationId xmlns:a16="http://schemas.microsoft.com/office/drawing/2014/main" id="{16C807BB-2959-1655-681C-8DD0C16D4EBA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2814EE17-82A8-3F8D-70D9-C1A98A4B6350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150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>
              <a:extLst>
                <a:ext uri="{FF2B5EF4-FFF2-40B4-BE49-F238E27FC236}">
                  <a16:creationId xmlns:a16="http://schemas.microsoft.com/office/drawing/2014/main" id="{C8FDBED6-43F0-66D7-CF8E-4A67B35BA817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>
                <a:extLst>
                  <a:ext uri="{FF2B5EF4-FFF2-40B4-BE49-F238E27FC236}">
                    <a16:creationId xmlns:a16="http://schemas.microsoft.com/office/drawing/2014/main" id="{C3086B16-3468-535F-5430-D8DA5237F685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>
                <a:extLst>
                  <a:ext uri="{FF2B5EF4-FFF2-40B4-BE49-F238E27FC236}">
                    <a16:creationId xmlns:a16="http://schemas.microsoft.com/office/drawing/2014/main" id="{74CCEE56-3222-E5BE-C51E-B0595916F1C4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>
                <a:extLst>
                  <a:ext uri="{FF2B5EF4-FFF2-40B4-BE49-F238E27FC236}">
                    <a16:creationId xmlns:a16="http://schemas.microsoft.com/office/drawing/2014/main" id="{7151DB77-DCFF-BA90-7A72-8F5D7F54C56C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>
                  <a:extLst>
                    <a:ext uri="{FF2B5EF4-FFF2-40B4-BE49-F238E27FC236}">
                      <a16:creationId xmlns:a16="http://schemas.microsoft.com/office/drawing/2014/main" id="{AC20A9E0-D5CD-5351-2CC1-B0BD5FF377E3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>
                  <a:extLst>
                    <a:ext uri="{FF2B5EF4-FFF2-40B4-BE49-F238E27FC236}">
                      <a16:creationId xmlns:a16="http://schemas.microsoft.com/office/drawing/2014/main" id="{88290879-7AB2-7382-C091-07D650762E93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>
                  <a:extLst>
                    <a:ext uri="{FF2B5EF4-FFF2-40B4-BE49-F238E27FC236}">
                      <a16:creationId xmlns:a16="http://schemas.microsoft.com/office/drawing/2014/main" id="{52BDE30D-BC06-7662-4BB6-4F70F7BE9C09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>
                  <a:extLst>
                    <a:ext uri="{FF2B5EF4-FFF2-40B4-BE49-F238E27FC236}">
                      <a16:creationId xmlns:a16="http://schemas.microsoft.com/office/drawing/2014/main" id="{2B11937D-9A52-19DA-A9B7-7ED8FDD39F82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>
              <a:extLst>
                <a:ext uri="{FF2B5EF4-FFF2-40B4-BE49-F238E27FC236}">
                  <a16:creationId xmlns:a16="http://schemas.microsoft.com/office/drawing/2014/main" id="{58EEF44A-E0C7-DE94-060A-B3935BB50C53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>
                <a:extLst>
                  <a:ext uri="{FF2B5EF4-FFF2-40B4-BE49-F238E27FC236}">
                    <a16:creationId xmlns:a16="http://schemas.microsoft.com/office/drawing/2014/main" id="{D7190887-BBB7-1ABA-9115-614AFF3BE42F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>
                  <a:extLst>
                    <a:ext uri="{FF2B5EF4-FFF2-40B4-BE49-F238E27FC236}">
                      <a16:creationId xmlns:a16="http://schemas.microsoft.com/office/drawing/2014/main" id="{FD3C55EE-8A00-D10E-F2AC-E47BBBD8191E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>
                  <a:extLst>
                    <a:ext uri="{FF2B5EF4-FFF2-40B4-BE49-F238E27FC236}">
                      <a16:creationId xmlns:a16="http://schemas.microsoft.com/office/drawing/2014/main" id="{1ADC2356-94FB-C43B-44B7-85B03C2BDFE7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>
                  <a:extLst>
                    <a:ext uri="{FF2B5EF4-FFF2-40B4-BE49-F238E27FC236}">
                      <a16:creationId xmlns:a16="http://schemas.microsoft.com/office/drawing/2014/main" id="{577FAAEF-B95A-87A1-0575-C46F446DD4E7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>
                    <a:extLst>
                      <a:ext uri="{FF2B5EF4-FFF2-40B4-BE49-F238E27FC236}">
                        <a16:creationId xmlns:a16="http://schemas.microsoft.com/office/drawing/2014/main" id="{87D31A0E-729A-2337-6210-479C23AC375F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>
                    <a:extLst>
                      <a:ext uri="{FF2B5EF4-FFF2-40B4-BE49-F238E27FC236}">
                        <a16:creationId xmlns:a16="http://schemas.microsoft.com/office/drawing/2014/main" id="{19A0A3D2-C611-C755-D1F3-8D1CB7C37F83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>
                    <a:extLst>
                      <a:ext uri="{FF2B5EF4-FFF2-40B4-BE49-F238E27FC236}">
                        <a16:creationId xmlns:a16="http://schemas.microsoft.com/office/drawing/2014/main" id="{5CE62470-D5D3-1B18-A323-03E46CEADCD2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>
                    <a:extLst>
                      <a:ext uri="{FF2B5EF4-FFF2-40B4-BE49-F238E27FC236}">
                        <a16:creationId xmlns:a16="http://schemas.microsoft.com/office/drawing/2014/main" id="{CECC823F-8195-BF33-9C37-9A2F22ED78F0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>
                <a:extLst>
                  <a:ext uri="{FF2B5EF4-FFF2-40B4-BE49-F238E27FC236}">
                    <a16:creationId xmlns:a16="http://schemas.microsoft.com/office/drawing/2014/main" id="{E996798E-5D65-8678-3141-272E0A78F0C4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>
              <a:extLst>
                <a:ext uri="{FF2B5EF4-FFF2-40B4-BE49-F238E27FC236}">
                  <a16:creationId xmlns:a16="http://schemas.microsoft.com/office/drawing/2014/main" id="{C294D1F7-6596-87CB-6ED3-3E5DFF48AE28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>
                <a:extLst>
                  <a:ext uri="{FF2B5EF4-FFF2-40B4-BE49-F238E27FC236}">
                    <a16:creationId xmlns:a16="http://schemas.microsoft.com/office/drawing/2014/main" id="{9DEF4B6E-426D-F68C-C1DA-6759423DE413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>
                <a:extLst>
                  <a:ext uri="{FF2B5EF4-FFF2-40B4-BE49-F238E27FC236}">
                    <a16:creationId xmlns:a16="http://schemas.microsoft.com/office/drawing/2014/main" id="{B5C11DFC-7D28-19C5-3880-E416CC0BBE16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>
              <a:extLst>
                <a:ext uri="{FF2B5EF4-FFF2-40B4-BE49-F238E27FC236}">
                  <a16:creationId xmlns:a16="http://schemas.microsoft.com/office/drawing/2014/main" id="{59EC5D4C-96C0-2DE0-A525-10376523A29C}"/>
                </a:ext>
              </a:extLst>
            </p:cNvPr>
            <p:cNvGrpSpPr/>
            <p:nvPr/>
          </p:nvGrpSpPr>
          <p:grpSpPr>
            <a:xfrm>
              <a:off x="7816120" y="4902803"/>
              <a:ext cx="123062" cy="63817"/>
              <a:chOff x="7816120" y="4902803"/>
              <a:chExt cx="123062" cy="63817"/>
            </a:xfrm>
          </p:grpSpPr>
          <p:grpSp>
            <p:nvGrpSpPr>
              <p:cNvPr id="1010" name="Google Shape;1010;p31">
                <a:extLst>
                  <a:ext uri="{FF2B5EF4-FFF2-40B4-BE49-F238E27FC236}">
                    <a16:creationId xmlns:a16="http://schemas.microsoft.com/office/drawing/2014/main" id="{7CE7A66F-9628-2313-F9E2-07104B0413B3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>
                  <a:extLst>
                    <a:ext uri="{FF2B5EF4-FFF2-40B4-BE49-F238E27FC236}">
                      <a16:creationId xmlns:a16="http://schemas.microsoft.com/office/drawing/2014/main" id="{DC74B623-2F2E-264F-B8AF-F2AC33B058B7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>
                  <a:extLst>
                    <a:ext uri="{FF2B5EF4-FFF2-40B4-BE49-F238E27FC236}">
                      <a16:creationId xmlns:a16="http://schemas.microsoft.com/office/drawing/2014/main" id="{371F40F5-E732-FECA-02EA-D34F3BCACCF3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>
                <a:extLst>
                  <a:ext uri="{FF2B5EF4-FFF2-40B4-BE49-F238E27FC236}">
                    <a16:creationId xmlns:a16="http://schemas.microsoft.com/office/drawing/2014/main" id="{70C74CB0-E34E-2BCD-D5A7-F7D278BE5DE0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4" name="Image 3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2854DBBA-E257-ED08-7599-FE3DD6832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25785"/>
            <a:ext cx="3488129" cy="232275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30232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A36FA93F-9A38-465C-7D1D-F4A163186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43B7D80D-194C-3ED0-5492-2AE595B57165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8DFAC460-1AAA-04E8-2287-812C4AB56A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4" y="1032900"/>
            <a:ext cx="4390611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Use Case</a:t>
            </a:r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B7E9C4CC-DCDD-577B-8E9E-30D5C70DB0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Content Moderation Use Case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Core User Actor: </a:t>
            </a:r>
            <a:r>
              <a:rPr lang="en-150" i="1" noProof="0"/>
              <a:t>Administrator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Core Admin flow:</a:t>
            </a: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View System Logs</a:t>
            </a:r>
            <a:endParaRPr lang="en-150" i="1" noProof="0">
              <a:sym typeface="Wingdings" panose="05000000000000000000" pitchFamily="2" charset="2"/>
            </a:endParaRP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Moderate Content</a:t>
            </a:r>
          </a:p>
          <a:p>
            <a:pPr marL="648000" lvl="1" indent="-171450" algn="l"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View pending Project(s) and decide approval</a:t>
            </a:r>
          </a:p>
          <a:p>
            <a:pPr marL="648000" lvl="1" indent="-171450" algn="l"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View existing Project(s) and delete if necessary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>
              <a:sym typeface="Wingdings" panose="05000000000000000000" pitchFamily="2" charset="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>
                <a:sym typeface="Wingdings" panose="05000000000000000000" pitchFamily="2" charset="2"/>
              </a:rPr>
              <a:t>Crucial Dependency:</a:t>
            </a: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Administrators needs to </a:t>
            </a:r>
            <a:r>
              <a:rPr lang="en-150" b="1" noProof="0">
                <a:sym typeface="Wingdings" panose="05000000000000000000" pitchFamily="2" charset="2"/>
              </a:rPr>
              <a:t>log in</a:t>
            </a:r>
            <a:r>
              <a:rPr lang="en-150" noProof="0">
                <a:sym typeface="Wingdings" panose="05000000000000000000" pitchFamily="2" charset="2"/>
              </a:rPr>
              <a:t> before being able to moderate</a:t>
            </a:r>
          </a:p>
          <a:p>
            <a:pPr marL="152550" indent="0">
              <a:buNone/>
            </a:pPr>
            <a:endParaRPr lang="en-150" noProof="0">
              <a:sym typeface="Wingdings" panose="05000000000000000000" pitchFamily="2" charset="2"/>
            </a:endParaRPr>
          </a:p>
        </p:txBody>
      </p:sp>
      <p:grpSp>
        <p:nvGrpSpPr>
          <p:cNvPr id="970" name="Google Shape;970;p31">
            <a:extLst>
              <a:ext uri="{FF2B5EF4-FFF2-40B4-BE49-F238E27FC236}">
                <a16:creationId xmlns:a16="http://schemas.microsoft.com/office/drawing/2014/main" id="{B275644B-26A6-B14B-E3AB-20CB645C23D4}"/>
              </a:ext>
            </a:extLst>
          </p:cNvPr>
          <p:cNvGrpSpPr/>
          <p:nvPr/>
        </p:nvGrpSpPr>
        <p:grpSpPr>
          <a:xfrm>
            <a:off x="7875610" y="386632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>
              <a:extLst>
                <a:ext uri="{FF2B5EF4-FFF2-40B4-BE49-F238E27FC236}">
                  <a16:creationId xmlns:a16="http://schemas.microsoft.com/office/drawing/2014/main" id="{E5D65BFA-C869-4C37-F452-71C5752723C1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>
                <a:extLst>
                  <a:ext uri="{FF2B5EF4-FFF2-40B4-BE49-F238E27FC236}">
                    <a16:creationId xmlns:a16="http://schemas.microsoft.com/office/drawing/2014/main" id="{368CEB53-9F30-858D-378E-D92A27E7F8BE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>
                <a:extLst>
                  <a:ext uri="{FF2B5EF4-FFF2-40B4-BE49-F238E27FC236}">
                    <a16:creationId xmlns:a16="http://schemas.microsoft.com/office/drawing/2014/main" id="{B70473C3-9EED-09BB-6B29-00709E74B8DE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>
                <a:extLst>
                  <a:ext uri="{FF2B5EF4-FFF2-40B4-BE49-F238E27FC236}">
                    <a16:creationId xmlns:a16="http://schemas.microsoft.com/office/drawing/2014/main" id="{56E2ED03-FFF5-3831-059F-FD233A6FA778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>
                  <a:extLst>
                    <a:ext uri="{FF2B5EF4-FFF2-40B4-BE49-F238E27FC236}">
                      <a16:creationId xmlns:a16="http://schemas.microsoft.com/office/drawing/2014/main" id="{60B367D8-8B6D-E375-56A1-CAF043042708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>
                  <a:extLst>
                    <a:ext uri="{FF2B5EF4-FFF2-40B4-BE49-F238E27FC236}">
                      <a16:creationId xmlns:a16="http://schemas.microsoft.com/office/drawing/2014/main" id="{E69166AC-9EFE-4660-994D-15521366893F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>
                  <a:extLst>
                    <a:ext uri="{FF2B5EF4-FFF2-40B4-BE49-F238E27FC236}">
                      <a16:creationId xmlns:a16="http://schemas.microsoft.com/office/drawing/2014/main" id="{75A230F4-AED1-0208-FC3A-C7C640F85395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>
                  <a:extLst>
                    <a:ext uri="{FF2B5EF4-FFF2-40B4-BE49-F238E27FC236}">
                      <a16:creationId xmlns:a16="http://schemas.microsoft.com/office/drawing/2014/main" id="{D0A57F26-FCFB-172B-9472-56B4B9196594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>
              <a:extLst>
                <a:ext uri="{FF2B5EF4-FFF2-40B4-BE49-F238E27FC236}">
                  <a16:creationId xmlns:a16="http://schemas.microsoft.com/office/drawing/2014/main" id="{FAAD7C50-81CA-F676-DDBC-592CDCE4D4CF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>
                <a:extLst>
                  <a:ext uri="{FF2B5EF4-FFF2-40B4-BE49-F238E27FC236}">
                    <a16:creationId xmlns:a16="http://schemas.microsoft.com/office/drawing/2014/main" id="{0928A0EC-E782-AB90-5BF5-5A3BD208E3DC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>
                <a:extLst>
                  <a:ext uri="{FF2B5EF4-FFF2-40B4-BE49-F238E27FC236}">
                    <a16:creationId xmlns:a16="http://schemas.microsoft.com/office/drawing/2014/main" id="{FE9D2EBA-5816-9F44-220B-2B0BCEDE477F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>
                <a:extLst>
                  <a:ext uri="{FF2B5EF4-FFF2-40B4-BE49-F238E27FC236}">
                    <a16:creationId xmlns:a16="http://schemas.microsoft.com/office/drawing/2014/main" id="{8BBCA810-FBA0-FD94-D618-F9E7F7C99866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>
                  <a:extLst>
                    <a:ext uri="{FF2B5EF4-FFF2-40B4-BE49-F238E27FC236}">
                      <a16:creationId xmlns:a16="http://schemas.microsoft.com/office/drawing/2014/main" id="{9978E970-CBEC-CAD6-F896-1AC9E04C1453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>
                  <a:extLst>
                    <a:ext uri="{FF2B5EF4-FFF2-40B4-BE49-F238E27FC236}">
                      <a16:creationId xmlns:a16="http://schemas.microsoft.com/office/drawing/2014/main" id="{1EED9E30-3652-18F6-2486-EE7DC4243AE1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>
                  <a:extLst>
                    <a:ext uri="{FF2B5EF4-FFF2-40B4-BE49-F238E27FC236}">
                      <a16:creationId xmlns:a16="http://schemas.microsoft.com/office/drawing/2014/main" id="{56FCA852-555B-CC5D-B771-7DA3B700327A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>
                  <a:extLst>
                    <a:ext uri="{FF2B5EF4-FFF2-40B4-BE49-F238E27FC236}">
                      <a16:creationId xmlns:a16="http://schemas.microsoft.com/office/drawing/2014/main" id="{A3427DF7-5942-C9D4-FEB9-C95F6939A2DD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C9EDDC47-FECD-9E96-E592-597F0F6BCFFF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150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>
              <a:extLst>
                <a:ext uri="{FF2B5EF4-FFF2-40B4-BE49-F238E27FC236}">
                  <a16:creationId xmlns:a16="http://schemas.microsoft.com/office/drawing/2014/main" id="{A23B753A-E2AD-B550-03D8-FB74D50F5F8A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>
                <a:extLst>
                  <a:ext uri="{FF2B5EF4-FFF2-40B4-BE49-F238E27FC236}">
                    <a16:creationId xmlns:a16="http://schemas.microsoft.com/office/drawing/2014/main" id="{C638877A-DC52-C3B3-7753-0949C11F50D2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>
                <a:extLst>
                  <a:ext uri="{FF2B5EF4-FFF2-40B4-BE49-F238E27FC236}">
                    <a16:creationId xmlns:a16="http://schemas.microsoft.com/office/drawing/2014/main" id="{709638E2-D582-31B1-5B25-3F6F4DC7D66B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>
                <a:extLst>
                  <a:ext uri="{FF2B5EF4-FFF2-40B4-BE49-F238E27FC236}">
                    <a16:creationId xmlns:a16="http://schemas.microsoft.com/office/drawing/2014/main" id="{56034515-BAF8-0074-190D-D2C3EEF54E50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>
                  <a:extLst>
                    <a:ext uri="{FF2B5EF4-FFF2-40B4-BE49-F238E27FC236}">
                      <a16:creationId xmlns:a16="http://schemas.microsoft.com/office/drawing/2014/main" id="{8EB2CDE9-1AD2-1CE8-8FFD-B3A03A57EF5A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>
                  <a:extLst>
                    <a:ext uri="{FF2B5EF4-FFF2-40B4-BE49-F238E27FC236}">
                      <a16:creationId xmlns:a16="http://schemas.microsoft.com/office/drawing/2014/main" id="{008D06E7-B15E-5557-CBFA-8133BCEC8708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>
                  <a:extLst>
                    <a:ext uri="{FF2B5EF4-FFF2-40B4-BE49-F238E27FC236}">
                      <a16:creationId xmlns:a16="http://schemas.microsoft.com/office/drawing/2014/main" id="{408A9634-4467-986B-8B07-9D03B1F04288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>
                  <a:extLst>
                    <a:ext uri="{FF2B5EF4-FFF2-40B4-BE49-F238E27FC236}">
                      <a16:creationId xmlns:a16="http://schemas.microsoft.com/office/drawing/2014/main" id="{9C06087F-141B-DD86-89DC-639F370D7BE2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>
              <a:extLst>
                <a:ext uri="{FF2B5EF4-FFF2-40B4-BE49-F238E27FC236}">
                  <a16:creationId xmlns:a16="http://schemas.microsoft.com/office/drawing/2014/main" id="{69E6DFC9-B8CF-FBFA-EE69-D883AEE057BC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>
                <a:extLst>
                  <a:ext uri="{FF2B5EF4-FFF2-40B4-BE49-F238E27FC236}">
                    <a16:creationId xmlns:a16="http://schemas.microsoft.com/office/drawing/2014/main" id="{8FD60222-548F-3C1C-80F0-621521855F6B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>
                  <a:extLst>
                    <a:ext uri="{FF2B5EF4-FFF2-40B4-BE49-F238E27FC236}">
                      <a16:creationId xmlns:a16="http://schemas.microsoft.com/office/drawing/2014/main" id="{37341AAF-1B33-8A9F-4D5F-ACD06292A1A4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>
                  <a:extLst>
                    <a:ext uri="{FF2B5EF4-FFF2-40B4-BE49-F238E27FC236}">
                      <a16:creationId xmlns:a16="http://schemas.microsoft.com/office/drawing/2014/main" id="{AAAF9C4A-F125-722B-968F-BD7AC91EC2E3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>
                  <a:extLst>
                    <a:ext uri="{FF2B5EF4-FFF2-40B4-BE49-F238E27FC236}">
                      <a16:creationId xmlns:a16="http://schemas.microsoft.com/office/drawing/2014/main" id="{A524977B-8F91-1B1E-6E21-C3302AB9E8AB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>
                    <a:extLst>
                      <a:ext uri="{FF2B5EF4-FFF2-40B4-BE49-F238E27FC236}">
                        <a16:creationId xmlns:a16="http://schemas.microsoft.com/office/drawing/2014/main" id="{6EE5E431-78E7-3AF3-1C45-D32580FFF5EA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>
                    <a:extLst>
                      <a:ext uri="{FF2B5EF4-FFF2-40B4-BE49-F238E27FC236}">
                        <a16:creationId xmlns:a16="http://schemas.microsoft.com/office/drawing/2014/main" id="{216567EA-BA3F-6F37-6F31-1E8E6B74C560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>
                    <a:extLst>
                      <a:ext uri="{FF2B5EF4-FFF2-40B4-BE49-F238E27FC236}">
                        <a16:creationId xmlns:a16="http://schemas.microsoft.com/office/drawing/2014/main" id="{EB163076-4725-1168-2654-72C02A5DB27B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>
                    <a:extLst>
                      <a:ext uri="{FF2B5EF4-FFF2-40B4-BE49-F238E27FC236}">
                        <a16:creationId xmlns:a16="http://schemas.microsoft.com/office/drawing/2014/main" id="{A78625BD-4E2E-F569-B791-29E8A38D9179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>
                <a:extLst>
                  <a:ext uri="{FF2B5EF4-FFF2-40B4-BE49-F238E27FC236}">
                    <a16:creationId xmlns:a16="http://schemas.microsoft.com/office/drawing/2014/main" id="{EBECA6C0-D98F-3683-0921-0CAE295F3F00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>
              <a:extLst>
                <a:ext uri="{FF2B5EF4-FFF2-40B4-BE49-F238E27FC236}">
                  <a16:creationId xmlns:a16="http://schemas.microsoft.com/office/drawing/2014/main" id="{534DF72C-5937-458B-4132-BE5C4E6AE8BD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>
                <a:extLst>
                  <a:ext uri="{FF2B5EF4-FFF2-40B4-BE49-F238E27FC236}">
                    <a16:creationId xmlns:a16="http://schemas.microsoft.com/office/drawing/2014/main" id="{F6908361-6890-CA22-3C2D-BDA7664C68E1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>
                <a:extLst>
                  <a:ext uri="{FF2B5EF4-FFF2-40B4-BE49-F238E27FC236}">
                    <a16:creationId xmlns:a16="http://schemas.microsoft.com/office/drawing/2014/main" id="{559C1F04-C30B-FCAB-4788-FB39571A5AB9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>
              <a:extLst>
                <a:ext uri="{FF2B5EF4-FFF2-40B4-BE49-F238E27FC236}">
                  <a16:creationId xmlns:a16="http://schemas.microsoft.com/office/drawing/2014/main" id="{28AD39DA-3DE5-A33F-9BE4-553E27676AAC}"/>
                </a:ext>
              </a:extLst>
            </p:cNvPr>
            <p:cNvGrpSpPr/>
            <p:nvPr/>
          </p:nvGrpSpPr>
          <p:grpSpPr>
            <a:xfrm>
              <a:off x="7816120" y="4902803"/>
              <a:ext cx="123062" cy="63817"/>
              <a:chOff x="7816120" y="4902803"/>
              <a:chExt cx="123062" cy="63817"/>
            </a:xfrm>
          </p:grpSpPr>
          <p:grpSp>
            <p:nvGrpSpPr>
              <p:cNvPr id="1010" name="Google Shape;1010;p31">
                <a:extLst>
                  <a:ext uri="{FF2B5EF4-FFF2-40B4-BE49-F238E27FC236}">
                    <a16:creationId xmlns:a16="http://schemas.microsoft.com/office/drawing/2014/main" id="{D8368FBA-D520-5F33-E840-36F7E7B55F98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>
                  <a:extLst>
                    <a:ext uri="{FF2B5EF4-FFF2-40B4-BE49-F238E27FC236}">
                      <a16:creationId xmlns:a16="http://schemas.microsoft.com/office/drawing/2014/main" id="{94EDA8DE-EAE2-3DC2-EA33-B333D53BB12B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>
                  <a:extLst>
                    <a:ext uri="{FF2B5EF4-FFF2-40B4-BE49-F238E27FC236}">
                      <a16:creationId xmlns:a16="http://schemas.microsoft.com/office/drawing/2014/main" id="{C1EC72C3-DB0C-E82B-FF7A-86BE166D34B8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>
                <a:extLst>
                  <a:ext uri="{FF2B5EF4-FFF2-40B4-BE49-F238E27FC236}">
                    <a16:creationId xmlns:a16="http://schemas.microsoft.com/office/drawing/2014/main" id="{2F4D6A5F-487C-C1A4-F88D-F00D1772DE9A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9A73189-BC79-0F57-CDC6-210895E4CE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8395" y="1425784"/>
            <a:ext cx="3565278" cy="2228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052058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>
          <a:extLst>
            <a:ext uri="{FF2B5EF4-FFF2-40B4-BE49-F238E27FC236}">
              <a16:creationId xmlns:a16="http://schemas.microsoft.com/office/drawing/2014/main" id="{2479FDA2-70C1-556F-B20E-3DFEDADF7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44">
            <a:extLst>
              <a:ext uri="{FF2B5EF4-FFF2-40B4-BE49-F238E27FC236}">
                <a16:creationId xmlns:a16="http://schemas.microsoft.com/office/drawing/2014/main" id="{19D604C0-3D64-8AC4-88C3-8D87F5B95E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System Architecture</a:t>
            </a:r>
          </a:p>
        </p:txBody>
      </p:sp>
      <p:sp>
        <p:nvSpPr>
          <p:cNvPr id="1423" name="Google Shape;1423;p44">
            <a:extLst>
              <a:ext uri="{FF2B5EF4-FFF2-40B4-BE49-F238E27FC236}">
                <a16:creationId xmlns:a16="http://schemas.microsoft.com/office/drawing/2014/main" id="{61368C62-68E2-B573-67B4-6479A9EBD041}"/>
              </a:ext>
            </a:extLst>
          </p:cNvPr>
          <p:cNvSpPr txBox="1"/>
          <p:nvPr/>
        </p:nvSpPr>
        <p:spPr>
          <a:xfrm>
            <a:off x="720000" y="1458237"/>
            <a:ext cx="1345500" cy="3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sz="1100" noProof="0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rPr>
              <a:t>REACT Client</a:t>
            </a:r>
          </a:p>
        </p:txBody>
      </p:sp>
      <p:sp>
        <p:nvSpPr>
          <p:cNvPr id="1426" name="Google Shape;1426;p44">
            <a:extLst>
              <a:ext uri="{FF2B5EF4-FFF2-40B4-BE49-F238E27FC236}">
                <a16:creationId xmlns:a16="http://schemas.microsoft.com/office/drawing/2014/main" id="{E7617356-0DBC-93E5-197E-22A75CB2C382}"/>
              </a:ext>
            </a:extLst>
          </p:cNvPr>
          <p:cNvSpPr txBox="1"/>
          <p:nvPr/>
        </p:nvSpPr>
        <p:spPr>
          <a:xfrm>
            <a:off x="2892226" y="1458237"/>
            <a:ext cx="1343400" cy="37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sz="1100" noProof="0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rPr>
              <a:t>Rest API / Flask</a:t>
            </a:r>
          </a:p>
        </p:txBody>
      </p:sp>
      <p:sp>
        <p:nvSpPr>
          <p:cNvPr id="1424" name="Google Shape;1424;p44">
            <a:extLst>
              <a:ext uri="{FF2B5EF4-FFF2-40B4-BE49-F238E27FC236}">
                <a16:creationId xmlns:a16="http://schemas.microsoft.com/office/drawing/2014/main" id="{12FE8C16-5F96-1A55-F980-846E744BCA29}"/>
              </a:ext>
            </a:extLst>
          </p:cNvPr>
          <p:cNvSpPr txBox="1"/>
          <p:nvPr/>
        </p:nvSpPr>
        <p:spPr>
          <a:xfrm>
            <a:off x="5062352" y="1458377"/>
            <a:ext cx="1343400" cy="37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sz="1100" noProof="0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rPr>
              <a:t>SQLite DB</a:t>
            </a:r>
          </a:p>
        </p:txBody>
      </p:sp>
      <p:sp>
        <p:nvSpPr>
          <p:cNvPr id="1432" name="Google Shape;1432;p44">
            <a:extLst>
              <a:ext uri="{FF2B5EF4-FFF2-40B4-BE49-F238E27FC236}">
                <a16:creationId xmlns:a16="http://schemas.microsoft.com/office/drawing/2014/main" id="{80AB692D-D281-88F1-6E84-5AEFF1F2B4AB}"/>
              </a:ext>
            </a:extLst>
          </p:cNvPr>
          <p:cNvSpPr txBox="1"/>
          <p:nvPr/>
        </p:nvSpPr>
        <p:spPr>
          <a:xfrm>
            <a:off x="6768448" y="1458237"/>
            <a:ext cx="1176600" cy="37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sz="1100" noProof="0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rPr>
              <a:t>File Storage</a:t>
            </a:r>
          </a:p>
        </p:txBody>
      </p:sp>
      <p:cxnSp>
        <p:nvCxnSpPr>
          <p:cNvPr id="21" name="Google Shape;1431;p44">
            <a:extLst>
              <a:ext uri="{FF2B5EF4-FFF2-40B4-BE49-F238E27FC236}">
                <a16:creationId xmlns:a16="http://schemas.microsoft.com/office/drawing/2014/main" id="{D2ADB599-9079-2779-2247-E9D892E09AA0}"/>
              </a:ext>
            </a:extLst>
          </p:cNvPr>
          <p:cNvCxnSpPr>
            <a:cxnSpLocks/>
            <a:stCxn id="1426" idx="3"/>
            <a:endCxn id="1424" idx="1"/>
          </p:cNvCxnSpPr>
          <p:nvPr/>
        </p:nvCxnSpPr>
        <p:spPr>
          <a:xfrm>
            <a:off x="4235626" y="1643637"/>
            <a:ext cx="826726" cy="14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4"/>
            </a:solidFill>
            <a:prstDash val="dashDot"/>
            <a:miter lim="8000"/>
            <a:headEnd type="none" w="sm" len="sm"/>
            <a:tailEnd type="none" w="sm" len="sm"/>
          </a:ln>
        </p:spPr>
      </p:cxnSp>
      <p:pic>
        <p:nvPicPr>
          <p:cNvPr id="35" name="Graphic 34" descr="Add outline">
            <a:extLst>
              <a:ext uri="{FF2B5EF4-FFF2-40B4-BE49-F238E27FC236}">
                <a16:creationId xmlns:a16="http://schemas.microsoft.com/office/drawing/2014/main" id="{76939082-0651-4B51-1044-E8746F87C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4354" y="1563591"/>
            <a:ext cx="185491" cy="185491"/>
          </a:xfrm>
          <a:prstGeom prst="rect">
            <a:avLst/>
          </a:prstGeom>
        </p:spPr>
      </p:pic>
      <p:cxnSp>
        <p:nvCxnSpPr>
          <p:cNvPr id="36" name="Google Shape;1431;p44">
            <a:extLst>
              <a:ext uri="{FF2B5EF4-FFF2-40B4-BE49-F238E27FC236}">
                <a16:creationId xmlns:a16="http://schemas.microsoft.com/office/drawing/2014/main" id="{C15F29A4-6A17-A5D9-47A8-CE0FB46412C9}"/>
              </a:ext>
            </a:extLst>
          </p:cNvPr>
          <p:cNvCxnSpPr>
            <a:cxnSpLocks/>
            <a:stCxn id="1423" idx="3"/>
            <a:endCxn id="1426" idx="1"/>
          </p:cNvCxnSpPr>
          <p:nvPr/>
        </p:nvCxnSpPr>
        <p:spPr>
          <a:xfrm>
            <a:off x="2065500" y="1643637"/>
            <a:ext cx="826726" cy="12700"/>
          </a:xfrm>
          <a:prstGeom prst="bentConnector3">
            <a:avLst>
              <a:gd name="adj1" fmla="val 99623"/>
            </a:avLst>
          </a:prstGeom>
          <a:noFill/>
          <a:ln w="9525" cap="flat" cmpd="sng">
            <a:solidFill>
              <a:schemeClr val="accent4"/>
            </a:solidFill>
            <a:prstDash val="dashDot"/>
            <a:miter lim="8000"/>
            <a:headEnd type="none" w="sm" len="sm"/>
            <a:tailEnd type="none" w="sm" len="sm"/>
          </a:ln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A60D149-9785-E721-6039-1BBD8EC7A22F}"/>
              </a:ext>
            </a:extLst>
          </p:cNvPr>
          <p:cNvSpPr txBox="1"/>
          <p:nvPr/>
        </p:nvSpPr>
        <p:spPr>
          <a:xfrm>
            <a:off x="720000" y="2058839"/>
            <a:ext cx="7507965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150" sz="1100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3-Tier Modular Architecture</a:t>
            </a:r>
          </a:p>
          <a:p>
            <a:endParaRPr lang="en-150" sz="1100" noProof="0">
              <a:solidFill>
                <a:schemeClr val="tx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150" sz="1100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Frontend:</a:t>
            </a:r>
          </a:p>
          <a:p>
            <a:pPr marL="324000" indent="-171450">
              <a:buFont typeface="Wingdings" panose="05000000000000000000" pitchFamily="2" charset="2"/>
              <a:buChar char="Ø"/>
            </a:pPr>
            <a:r>
              <a:rPr lang="en-150" sz="1100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Built with </a:t>
            </a:r>
            <a:r>
              <a:rPr lang="en-150" sz="1100" b="1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React</a:t>
            </a:r>
            <a:r>
              <a:rPr lang="fr-FR" sz="1100" b="1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150" sz="1100" b="1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TypeScript</a:t>
            </a:r>
            <a:r>
              <a:rPr lang="fr-FR" sz="1100" b="1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, Vite &amp; Tailwind CSS</a:t>
            </a:r>
            <a:endParaRPr lang="en-150" sz="1100" b="1" noProof="0">
              <a:solidFill>
                <a:schemeClr val="tx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  <a:p>
            <a:pPr marL="324000" indent="-171450">
              <a:buFont typeface="Wingdings" panose="05000000000000000000" pitchFamily="2" charset="2"/>
              <a:buChar char="Ø"/>
            </a:pPr>
            <a:r>
              <a:rPr lang="en-150" sz="1100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No page reloads, fast data fetching</a:t>
            </a:r>
          </a:p>
          <a:p>
            <a:endParaRPr lang="en-150" sz="1100" noProof="0">
              <a:solidFill>
                <a:schemeClr val="tx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150" sz="1100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Backend:</a:t>
            </a:r>
          </a:p>
          <a:p>
            <a:pPr marL="324000" indent="-171450">
              <a:buFont typeface="Wingdings" panose="05000000000000000000" pitchFamily="2" charset="2"/>
              <a:buChar char="Ø"/>
            </a:pPr>
            <a:r>
              <a:rPr lang="en-150" sz="1100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Uses </a:t>
            </a:r>
            <a:r>
              <a:rPr lang="en-150" sz="1100" b="1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Python</a:t>
            </a:r>
            <a:r>
              <a:rPr lang="fr-FR" sz="1100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with</a:t>
            </a:r>
            <a:r>
              <a:rPr lang="en-150" sz="1100" b="1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Flask</a:t>
            </a:r>
            <a:r>
              <a:rPr lang="fr-FR" sz="1100" b="1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, bcrypt, PyJWT</a:t>
            </a:r>
            <a:endParaRPr lang="en-150" sz="1100" b="1" noProof="0">
              <a:solidFill>
                <a:schemeClr val="tx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  <a:p>
            <a:pPr marL="324000" indent="-171450">
              <a:buFont typeface="Wingdings" panose="05000000000000000000" pitchFamily="2" charset="2"/>
              <a:buChar char="Ø"/>
            </a:pPr>
            <a:r>
              <a:rPr lang="en-150" sz="1100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RESTful endpoints, handles logic, authentication, permission checks</a:t>
            </a:r>
          </a:p>
          <a:p>
            <a:endParaRPr lang="en-150" sz="1100" noProof="0">
              <a:solidFill>
                <a:schemeClr val="tx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150" sz="1100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Database: </a:t>
            </a:r>
          </a:p>
          <a:p>
            <a:pPr marL="324000" indent="-171450">
              <a:buFont typeface="Wingdings" panose="05000000000000000000" pitchFamily="2" charset="2"/>
              <a:buChar char="Ø"/>
            </a:pPr>
            <a:r>
              <a:rPr lang="en-150" sz="1100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Utilizes </a:t>
            </a:r>
            <a:r>
              <a:rPr lang="en-150" sz="1100" b="1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SQLite</a:t>
            </a:r>
          </a:p>
          <a:p>
            <a:pPr marL="324000" indent="-171450">
              <a:buFont typeface="Wingdings" panose="05000000000000000000" pitchFamily="2" charset="2"/>
              <a:buChar char="Ø"/>
            </a:pPr>
            <a:r>
              <a:rPr lang="en-150" sz="1100" noProof="0">
                <a:solidFill>
                  <a:schemeClr val="tx1"/>
                </a:solidFill>
                <a:latin typeface="Lato" panose="020F0502020204030203" pitchFamily="34" charset="0"/>
                <a:cs typeface="Lato" panose="020F0502020204030203" pitchFamily="34" charset="0"/>
              </a:rPr>
              <a:t>Lightweight</a:t>
            </a:r>
          </a:p>
        </p:txBody>
      </p:sp>
    </p:spTree>
    <p:extLst>
      <p:ext uri="{BB962C8B-B14F-4D97-AF65-F5344CB8AC3E}">
        <p14:creationId xmlns:p14="http://schemas.microsoft.com/office/powerpoint/2010/main" val="7711386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B06E5DC4-BBB8-D469-72C2-08D523FAB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4940727E-9E74-024A-C63E-80966F566BA5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6CF6A595-881D-DF56-0119-20D884DF11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4" y="1032900"/>
            <a:ext cx="4390611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Sequence</a:t>
            </a:r>
            <a:r>
              <a:rPr lang="fr-FR" noProof="0"/>
              <a:t> diagram</a:t>
            </a:r>
            <a:endParaRPr lang="en-150" noProof="0"/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D69B4933-09FA-896A-41A6-358631A66F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How data is processed by the system during an Upload:</a:t>
            </a:r>
            <a:endParaRPr lang="en-150" noProof="0">
              <a:sym typeface="Wingdings" panose="05000000000000000000" pitchFamily="2" charset="2"/>
            </a:endParaRP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b="1" noProof="0">
                <a:sym typeface="Wingdings" panose="05000000000000000000" pitchFamily="2" charset="2"/>
              </a:rPr>
              <a:t>The Boundary (React): </a:t>
            </a:r>
            <a:r>
              <a:rPr lang="en-150" noProof="0">
                <a:sym typeface="Wingdings" panose="05000000000000000000" pitchFamily="2" charset="2"/>
              </a:rPr>
              <a:t>collects file and metadata</a:t>
            </a: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b="1" noProof="0">
                <a:sym typeface="Wingdings" panose="05000000000000000000" pitchFamily="2" charset="2"/>
              </a:rPr>
              <a:t>The Service (Flask): </a:t>
            </a:r>
            <a:r>
              <a:rPr lang="en-150" noProof="0">
                <a:sym typeface="Wingdings" panose="05000000000000000000" pitchFamily="2" charset="2"/>
              </a:rPr>
              <a:t>validates token and file size</a:t>
            </a: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b="1" noProof="0">
                <a:sym typeface="Wingdings" panose="05000000000000000000" pitchFamily="2" charset="2"/>
              </a:rPr>
              <a:t>The Repo (DB): </a:t>
            </a:r>
            <a:r>
              <a:rPr lang="en-150" noProof="0">
                <a:sym typeface="Wingdings" panose="05000000000000000000" pitchFamily="2" charset="2"/>
              </a:rPr>
              <a:t>stores the metadata, while file is written to disk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>
              <a:sym typeface="Wingdings" panose="05000000000000000000" pitchFamily="2" charset="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>
                <a:sym typeface="Wingdings" panose="05000000000000000000" pitchFamily="2" charset="2"/>
              </a:rPr>
              <a:t>The system returns a success message, flags projects internally as “approved=False”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>
              <a:sym typeface="Wingdings" panose="05000000000000000000" pitchFamily="2" charset="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>
                <a:sym typeface="Wingdings" panose="05000000000000000000" pitchFamily="2" charset="2"/>
              </a:rPr>
              <a:t>In case of error  returns error instead </a:t>
            </a:r>
          </a:p>
        </p:txBody>
      </p:sp>
      <p:grpSp>
        <p:nvGrpSpPr>
          <p:cNvPr id="970" name="Google Shape;970;p31">
            <a:extLst>
              <a:ext uri="{FF2B5EF4-FFF2-40B4-BE49-F238E27FC236}">
                <a16:creationId xmlns:a16="http://schemas.microsoft.com/office/drawing/2014/main" id="{74194423-3660-4B6A-DCEC-4C0B94200C4C}"/>
              </a:ext>
            </a:extLst>
          </p:cNvPr>
          <p:cNvGrpSpPr/>
          <p:nvPr/>
        </p:nvGrpSpPr>
        <p:grpSpPr>
          <a:xfrm>
            <a:off x="7875610" y="386632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>
              <a:extLst>
                <a:ext uri="{FF2B5EF4-FFF2-40B4-BE49-F238E27FC236}">
                  <a16:creationId xmlns:a16="http://schemas.microsoft.com/office/drawing/2014/main" id="{DAD062EB-603B-614E-74A8-50881E47956F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>
                <a:extLst>
                  <a:ext uri="{FF2B5EF4-FFF2-40B4-BE49-F238E27FC236}">
                    <a16:creationId xmlns:a16="http://schemas.microsoft.com/office/drawing/2014/main" id="{F309D7FD-E4D9-5019-2DA2-C29C6BAFD04A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>
                <a:extLst>
                  <a:ext uri="{FF2B5EF4-FFF2-40B4-BE49-F238E27FC236}">
                    <a16:creationId xmlns:a16="http://schemas.microsoft.com/office/drawing/2014/main" id="{E3F284B7-AE27-5308-D594-D4EA11B1C335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>
                <a:extLst>
                  <a:ext uri="{FF2B5EF4-FFF2-40B4-BE49-F238E27FC236}">
                    <a16:creationId xmlns:a16="http://schemas.microsoft.com/office/drawing/2014/main" id="{E26F02E2-5CCD-9029-50C6-BF6D9D711057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>
                  <a:extLst>
                    <a:ext uri="{FF2B5EF4-FFF2-40B4-BE49-F238E27FC236}">
                      <a16:creationId xmlns:a16="http://schemas.microsoft.com/office/drawing/2014/main" id="{4FD220AC-C020-4F86-50E0-4A974EB28BA6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>
                  <a:extLst>
                    <a:ext uri="{FF2B5EF4-FFF2-40B4-BE49-F238E27FC236}">
                      <a16:creationId xmlns:a16="http://schemas.microsoft.com/office/drawing/2014/main" id="{5F1220FD-E66F-732B-201E-FD5FC956BE6D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>
                  <a:extLst>
                    <a:ext uri="{FF2B5EF4-FFF2-40B4-BE49-F238E27FC236}">
                      <a16:creationId xmlns:a16="http://schemas.microsoft.com/office/drawing/2014/main" id="{C96DCBBC-DB25-8395-55B9-673B027ADCD1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>
                  <a:extLst>
                    <a:ext uri="{FF2B5EF4-FFF2-40B4-BE49-F238E27FC236}">
                      <a16:creationId xmlns:a16="http://schemas.microsoft.com/office/drawing/2014/main" id="{2B59B471-B9AB-7BC4-DA61-FDC2EE6F9D41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>
              <a:extLst>
                <a:ext uri="{FF2B5EF4-FFF2-40B4-BE49-F238E27FC236}">
                  <a16:creationId xmlns:a16="http://schemas.microsoft.com/office/drawing/2014/main" id="{01DEF976-8CBD-1D12-2D61-6DC8AAA6C299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>
                <a:extLst>
                  <a:ext uri="{FF2B5EF4-FFF2-40B4-BE49-F238E27FC236}">
                    <a16:creationId xmlns:a16="http://schemas.microsoft.com/office/drawing/2014/main" id="{B2B4EF48-D37C-2875-2608-42DF88F9FB41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>
                <a:extLst>
                  <a:ext uri="{FF2B5EF4-FFF2-40B4-BE49-F238E27FC236}">
                    <a16:creationId xmlns:a16="http://schemas.microsoft.com/office/drawing/2014/main" id="{0E7FBFC2-CA2A-C1D6-9B05-EDEC696CEDA8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>
                <a:extLst>
                  <a:ext uri="{FF2B5EF4-FFF2-40B4-BE49-F238E27FC236}">
                    <a16:creationId xmlns:a16="http://schemas.microsoft.com/office/drawing/2014/main" id="{2BC48F49-63AD-80A3-F32D-02E9FD4327F9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>
                  <a:extLst>
                    <a:ext uri="{FF2B5EF4-FFF2-40B4-BE49-F238E27FC236}">
                      <a16:creationId xmlns:a16="http://schemas.microsoft.com/office/drawing/2014/main" id="{042D822F-A480-3C09-9FB5-960C6FA1E0B9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>
                  <a:extLst>
                    <a:ext uri="{FF2B5EF4-FFF2-40B4-BE49-F238E27FC236}">
                      <a16:creationId xmlns:a16="http://schemas.microsoft.com/office/drawing/2014/main" id="{4DD3DC66-69C2-0064-2179-61CBE81CF66A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>
                  <a:extLst>
                    <a:ext uri="{FF2B5EF4-FFF2-40B4-BE49-F238E27FC236}">
                      <a16:creationId xmlns:a16="http://schemas.microsoft.com/office/drawing/2014/main" id="{FE1B0EB3-C0B7-6A9E-B91D-5099E1691753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>
                  <a:extLst>
                    <a:ext uri="{FF2B5EF4-FFF2-40B4-BE49-F238E27FC236}">
                      <a16:creationId xmlns:a16="http://schemas.microsoft.com/office/drawing/2014/main" id="{09FE6F02-A973-41AD-D677-09FA7CCAD0EA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72A83DC9-E1D6-D3AB-8410-404C5BE23A8F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150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>
              <a:extLst>
                <a:ext uri="{FF2B5EF4-FFF2-40B4-BE49-F238E27FC236}">
                  <a16:creationId xmlns:a16="http://schemas.microsoft.com/office/drawing/2014/main" id="{805D2103-BE14-2711-E520-44A7FB9FFF9D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>
                <a:extLst>
                  <a:ext uri="{FF2B5EF4-FFF2-40B4-BE49-F238E27FC236}">
                    <a16:creationId xmlns:a16="http://schemas.microsoft.com/office/drawing/2014/main" id="{162D4869-71FC-F4E7-2809-930027FE7B01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>
                <a:extLst>
                  <a:ext uri="{FF2B5EF4-FFF2-40B4-BE49-F238E27FC236}">
                    <a16:creationId xmlns:a16="http://schemas.microsoft.com/office/drawing/2014/main" id="{334647B7-106A-AF8F-9739-B706B9EA8069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>
                <a:extLst>
                  <a:ext uri="{FF2B5EF4-FFF2-40B4-BE49-F238E27FC236}">
                    <a16:creationId xmlns:a16="http://schemas.microsoft.com/office/drawing/2014/main" id="{E15D39D5-1E9F-A647-C935-4E2CCA06FEAF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>
                  <a:extLst>
                    <a:ext uri="{FF2B5EF4-FFF2-40B4-BE49-F238E27FC236}">
                      <a16:creationId xmlns:a16="http://schemas.microsoft.com/office/drawing/2014/main" id="{85BA9549-7D56-5D6C-35DB-B908E2739272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>
                  <a:extLst>
                    <a:ext uri="{FF2B5EF4-FFF2-40B4-BE49-F238E27FC236}">
                      <a16:creationId xmlns:a16="http://schemas.microsoft.com/office/drawing/2014/main" id="{17512EE9-9EDE-91F6-1DDB-60F8610C6166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>
                  <a:extLst>
                    <a:ext uri="{FF2B5EF4-FFF2-40B4-BE49-F238E27FC236}">
                      <a16:creationId xmlns:a16="http://schemas.microsoft.com/office/drawing/2014/main" id="{E5D2DF16-8DF4-C90D-9B23-48B3C2695E94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>
                  <a:extLst>
                    <a:ext uri="{FF2B5EF4-FFF2-40B4-BE49-F238E27FC236}">
                      <a16:creationId xmlns:a16="http://schemas.microsoft.com/office/drawing/2014/main" id="{E619B22C-FCF5-0F4E-7D14-2DFA5D65048E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>
              <a:extLst>
                <a:ext uri="{FF2B5EF4-FFF2-40B4-BE49-F238E27FC236}">
                  <a16:creationId xmlns:a16="http://schemas.microsoft.com/office/drawing/2014/main" id="{C03CDB78-B2E1-52FC-FBF4-6ECF8A789089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>
                <a:extLst>
                  <a:ext uri="{FF2B5EF4-FFF2-40B4-BE49-F238E27FC236}">
                    <a16:creationId xmlns:a16="http://schemas.microsoft.com/office/drawing/2014/main" id="{DFDDFE76-F0C4-F241-0296-3421D5A22AF2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>
                  <a:extLst>
                    <a:ext uri="{FF2B5EF4-FFF2-40B4-BE49-F238E27FC236}">
                      <a16:creationId xmlns:a16="http://schemas.microsoft.com/office/drawing/2014/main" id="{99316DFF-AE0A-05F8-ED60-EF83D85AFC55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>
                  <a:extLst>
                    <a:ext uri="{FF2B5EF4-FFF2-40B4-BE49-F238E27FC236}">
                      <a16:creationId xmlns:a16="http://schemas.microsoft.com/office/drawing/2014/main" id="{ECBA4038-8A1B-5177-7CDE-85C56511BF70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>
                  <a:extLst>
                    <a:ext uri="{FF2B5EF4-FFF2-40B4-BE49-F238E27FC236}">
                      <a16:creationId xmlns:a16="http://schemas.microsoft.com/office/drawing/2014/main" id="{4376B3A1-3A19-69B8-6457-9290A784BEDB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>
                    <a:extLst>
                      <a:ext uri="{FF2B5EF4-FFF2-40B4-BE49-F238E27FC236}">
                        <a16:creationId xmlns:a16="http://schemas.microsoft.com/office/drawing/2014/main" id="{6DA75BC6-147C-C562-CAC7-ADAB07EA4C66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>
                    <a:extLst>
                      <a:ext uri="{FF2B5EF4-FFF2-40B4-BE49-F238E27FC236}">
                        <a16:creationId xmlns:a16="http://schemas.microsoft.com/office/drawing/2014/main" id="{91BE6452-A4F5-EA5A-DF0E-88FCC0D67385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>
                    <a:extLst>
                      <a:ext uri="{FF2B5EF4-FFF2-40B4-BE49-F238E27FC236}">
                        <a16:creationId xmlns:a16="http://schemas.microsoft.com/office/drawing/2014/main" id="{91088BDE-7D23-A1F3-F52A-D8A36B04FF6C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>
                    <a:extLst>
                      <a:ext uri="{FF2B5EF4-FFF2-40B4-BE49-F238E27FC236}">
                        <a16:creationId xmlns:a16="http://schemas.microsoft.com/office/drawing/2014/main" id="{6A201191-A82D-61FA-57EA-9DF807654F93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>
                <a:extLst>
                  <a:ext uri="{FF2B5EF4-FFF2-40B4-BE49-F238E27FC236}">
                    <a16:creationId xmlns:a16="http://schemas.microsoft.com/office/drawing/2014/main" id="{6B551EFB-FC16-CB96-9F07-CAD068248AFA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>
              <a:extLst>
                <a:ext uri="{FF2B5EF4-FFF2-40B4-BE49-F238E27FC236}">
                  <a16:creationId xmlns:a16="http://schemas.microsoft.com/office/drawing/2014/main" id="{BDE19F6E-C86B-6DA4-F461-3C014E4DB01D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>
                <a:extLst>
                  <a:ext uri="{FF2B5EF4-FFF2-40B4-BE49-F238E27FC236}">
                    <a16:creationId xmlns:a16="http://schemas.microsoft.com/office/drawing/2014/main" id="{3F0B2018-5401-BBB9-4C1E-F3509704AB97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>
                <a:extLst>
                  <a:ext uri="{FF2B5EF4-FFF2-40B4-BE49-F238E27FC236}">
                    <a16:creationId xmlns:a16="http://schemas.microsoft.com/office/drawing/2014/main" id="{4231BBB5-48A1-2120-894F-06DE4DBADB9D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>
              <a:extLst>
                <a:ext uri="{FF2B5EF4-FFF2-40B4-BE49-F238E27FC236}">
                  <a16:creationId xmlns:a16="http://schemas.microsoft.com/office/drawing/2014/main" id="{3D69E915-1C13-197C-16BF-9BCB4F7377CF}"/>
                </a:ext>
              </a:extLst>
            </p:cNvPr>
            <p:cNvGrpSpPr/>
            <p:nvPr/>
          </p:nvGrpSpPr>
          <p:grpSpPr>
            <a:xfrm>
              <a:off x="7816120" y="4902803"/>
              <a:ext cx="123062" cy="63817"/>
              <a:chOff x="7816120" y="4902803"/>
              <a:chExt cx="123062" cy="63817"/>
            </a:xfrm>
          </p:grpSpPr>
          <p:grpSp>
            <p:nvGrpSpPr>
              <p:cNvPr id="1010" name="Google Shape;1010;p31">
                <a:extLst>
                  <a:ext uri="{FF2B5EF4-FFF2-40B4-BE49-F238E27FC236}">
                    <a16:creationId xmlns:a16="http://schemas.microsoft.com/office/drawing/2014/main" id="{E8B1AFE3-C70A-E35D-3594-C7867D8BBC94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>
                  <a:extLst>
                    <a:ext uri="{FF2B5EF4-FFF2-40B4-BE49-F238E27FC236}">
                      <a16:creationId xmlns:a16="http://schemas.microsoft.com/office/drawing/2014/main" id="{A8F054AF-264E-3568-DDDA-5B68E504A0AA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>
                  <a:extLst>
                    <a:ext uri="{FF2B5EF4-FFF2-40B4-BE49-F238E27FC236}">
                      <a16:creationId xmlns:a16="http://schemas.microsoft.com/office/drawing/2014/main" id="{738EE592-5C22-2AF9-5A15-DD9869F079AB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>
                <a:extLst>
                  <a:ext uri="{FF2B5EF4-FFF2-40B4-BE49-F238E27FC236}">
                    <a16:creationId xmlns:a16="http://schemas.microsoft.com/office/drawing/2014/main" id="{02C20D0E-316E-F6C7-48DF-C406DAA93F86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FAABD5B-9367-D40B-01A6-CB18ECFB26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1084" y="1425784"/>
            <a:ext cx="3476846" cy="222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91571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4373E30F-F2F5-5802-22D5-81808DA7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7694EDF8-DD9D-34B6-C04D-E43EDF4A5CA0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460D14DB-65EA-2DF0-88DD-798D662FDD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4" y="1032900"/>
            <a:ext cx="4390611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Class diagram</a:t>
            </a:r>
            <a:endParaRPr lang="en-150" noProof="0"/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577D2D74-B924-3F7C-8954-9C6D9487805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The “brain” of our Repository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>
              <a:sym typeface="Wingdings" panose="05000000000000000000" pitchFamily="2" charset="2"/>
            </a:endParaRP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User is a </a:t>
            </a:r>
            <a:r>
              <a:rPr lang="en-150" b="1" noProof="0">
                <a:sym typeface="Wingdings" panose="05000000000000000000" pitchFamily="2" charset="2"/>
              </a:rPr>
              <a:t>superclass</a:t>
            </a:r>
            <a:r>
              <a:rPr lang="en-150" noProof="0">
                <a:sym typeface="Wingdings" panose="05000000000000000000" pitchFamily="2" charset="2"/>
              </a:rPr>
              <a:t> for Student and Admin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>
              <a:sym typeface="Wingdings" panose="05000000000000000000" pitchFamily="2" charset="2"/>
            </a:endParaRPr>
          </a:p>
          <a:p>
            <a:pPr marL="324000" indent="-171450"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Created a relationship that allows for </a:t>
            </a:r>
            <a:r>
              <a:rPr lang="en-150" b="1" noProof="0">
                <a:sym typeface="Wingdings" panose="05000000000000000000" pitchFamily="2" charset="2"/>
              </a:rPr>
              <a:t>multiple</a:t>
            </a:r>
            <a:r>
              <a:rPr lang="en-150" noProof="0">
                <a:sym typeface="Wingdings" panose="05000000000000000000" pitchFamily="2" charset="2"/>
              </a:rPr>
              <a:t> authors per project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>
              <a:sym typeface="Wingdings" panose="05000000000000000000" pitchFamily="2" charset="2"/>
            </a:endParaRP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Projects are tagged with Topics</a:t>
            </a:r>
            <a:r>
              <a:rPr lang="en-GB" noProof="0">
                <a:sym typeface="Wingdings" panose="05000000000000000000" pitchFamily="2" charset="2"/>
              </a:rPr>
              <a:t>.</a:t>
            </a:r>
            <a:r>
              <a:rPr lang="en-150" noProof="0">
                <a:sym typeface="Wingdings" panose="05000000000000000000" pitchFamily="2" charset="2"/>
              </a:rPr>
              <a:t> </a:t>
            </a:r>
            <a:r>
              <a:rPr lang="en-GB" noProof="0">
                <a:sym typeface="Wingdings" panose="05000000000000000000" pitchFamily="2" charset="2"/>
              </a:rPr>
              <a:t>Also </a:t>
            </a:r>
            <a:r>
              <a:rPr lang="en-150" noProof="0">
                <a:sym typeface="Wingdings" panose="05000000000000000000" pitchFamily="2" charset="2"/>
              </a:rPr>
              <a:t>N-to-N relationship, allowing for </a:t>
            </a:r>
            <a:r>
              <a:rPr lang="en-150" b="1" noProof="0">
                <a:sym typeface="Wingdings" panose="05000000000000000000" pitchFamily="2" charset="2"/>
              </a:rPr>
              <a:t>flexible</a:t>
            </a:r>
            <a:r>
              <a:rPr lang="en-150" noProof="0">
                <a:sym typeface="Wingdings" panose="05000000000000000000" pitchFamily="2" charset="2"/>
              </a:rPr>
              <a:t> categorization </a:t>
            </a:r>
          </a:p>
          <a:p>
            <a:pPr marL="152550" indent="0">
              <a:buNone/>
            </a:pPr>
            <a:endParaRPr lang="en-150" noProof="0">
              <a:sym typeface="Wingdings" panose="05000000000000000000" pitchFamily="2" charset="2"/>
            </a:endParaRPr>
          </a:p>
        </p:txBody>
      </p:sp>
      <p:grpSp>
        <p:nvGrpSpPr>
          <p:cNvPr id="970" name="Google Shape;970;p31">
            <a:extLst>
              <a:ext uri="{FF2B5EF4-FFF2-40B4-BE49-F238E27FC236}">
                <a16:creationId xmlns:a16="http://schemas.microsoft.com/office/drawing/2014/main" id="{B31EB054-2EF6-3DE4-2EDE-9FFADBF72701}"/>
              </a:ext>
            </a:extLst>
          </p:cNvPr>
          <p:cNvGrpSpPr/>
          <p:nvPr/>
        </p:nvGrpSpPr>
        <p:grpSpPr>
          <a:xfrm>
            <a:off x="7875610" y="386632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>
              <a:extLst>
                <a:ext uri="{FF2B5EF4-FFF2-40B4-BE49-F238E27FC236}">
                  <a16:creationId xmlns:a16="http://schemas.microsoft.com/office/drawing/2014/main" id="{D5539F08-FB37-8CFD-D814-EEAB3A4B6BF8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>
                <a:extLst>
                  <a:ext uri="{FF2B5EF4-FFF2-40B4-BE49-F238E27FC236}">
                    <a16:creationId xmlns:a16="http://schemas.microsoft.com/office/drawing/2014/main" id="{F56549BF-A7E4-795D-A3D3-D79F6ACE5EA3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>
                <a:extLst>
                  <a:ext uri="{FF2B5EF4-FFF2-40B4-BE49-F238E27FC236}">
                    <a16:creationId xmlns:a16="http://schemas.microsoft.com/office/drawing/2014/main" id="{A1F95659-858B-2E0A-4FB1-A634D64F44C6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>
                <a:extLst>
                  <a:ext uri="{FF2B5EF4-FFF2-40B4-BE49-F238E27FC236}">
                    <a16:creationId xmlns:a16="http://schemas.microsoft.com/office/drawing/2014/main" id="{2708E50B-1A8D-1AA1-69D6-2486E6D328F0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>
                  <a:extLst>
                    <a:ext uri="{FF2B5EF4-FFF2-40B4-BE49-F238E27FC236}">
                      <a16:creationId xmlns:a16="http://schemas.microsoft.com/office/drawing/2014/main" id="{02FFB1FD-5C82-F728-8759-766F6FD0EE0F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>
                  <a:extLst>
                    <a:ext uri="{FF2B5EF4-FFF2-40B4-BE49-F238E27FC236}">
                      <a16:creationId xmlns:a16="http://schemas.microsoft.com/office/drawing/2014/main" id="{AD23AC38-BCE9-52F6-83E3-260EA86911F6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>
                  <a:extLst>
                    <a:ext uri="{FF2B5EF4-FFF2-40B4-BE49-F238E27FC236}">
                      <a16:creationId xmlns:a16="http://schemas.microsoft.com/office/drawing/2014/main" id="{40DB6AEF-4A5E-D419-4676-64657DE0EEF0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>
                  <a:extLst>
                    <a:ext uri="{FF2B5EF4-FFF2-40B4-BE49-F238E27FC236}">
                      <a16:creationId xmlns:a16="http://schemas.microsoft.com/office/drawing/2014/main" id="{CD90496D-6F30-449E-2CE9-7D7EF098C772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>
              <a:extLst>
                <a:ext uri="{FF2B5EF4-FFF2-40B4-BE49-F238E27FC236}">
                  <a16:creationId xmlns:a16="http://schemas.microsoft.com/office/drawing/2014/main" id="{F7F0EB80-8EE0-CDE5-B57E-C08296EE1491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>
                <a:extLst>
                  <a:ext uri="{FF2B5EF4-FFF2-40B4-BE49-F238E27FC236}">
                    <a16:creationId xmlns:a16="http://schemas.microsoft.com/office/drawing/2014/main" id="{BB085806-6C28-E321-2C35-8F1C0B8C14EF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>
                <a:extLst>
                  <a:ext uri="{FF2B5EF4-FFF2-40B4-BE49-F238E27FC236}">
                    <a16:creationId xmlns:a16="http://schemas.microsoft.com/office/drawing/2014/main" id="{51027CC0-81A1-6CEE-6C26-EADAABD2D839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>
                <a:extLst>
                  <a:ext uri="{FF2B5EF4-FFF2-40B4-BE49-F238E27FC236}">
                    <a16:creationId xmlns:a16="http://schemas.microsoft.com/office/drawing/2014/main" id="{64F353D3-8A60-F486-73AC-F037025368CC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>
                  <a:extLst>
                    <a:ext uri="{FF2B5EF4-FFF2-40B4-BE49-F238E27FC236}">
                      <a16:creationId xmlns:a16="http://schemas.microsoft.com/office/drawing/2014/main" id="{82B7180F-FFF3-D716-BF40-A56CD1AEB4BD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>
                  <a:extLst>
                    <a:ext uri="{FF2B5EF4-FFF2-40B4-BE49-F238E27FC236}">
                      <a16:creationId xmlns:a16="http://schemas.microsoft.com/office/drawing/2014/main" id="{16C92D36-E977-3BFF-6DB6-4300C4EAB012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>
                  <a:extLst>
                    <a:ext uri="{FF2B5EF4-FFF2-40B4-BE49-F238E27FC236}">
                      <a16:creationId xmlns:a16="http://schemas.microsoft.com/office/drawing/2014/main" id="{F11F3B60-FD7F-B977-22E9-7113F9F8C269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>
                  <a:extLst>
                    <a:ext uri="{FF2B5EF4-FFF2-40B4-BE49-F238E27FC236}">
                      <a16:creationId xmlns:a16="http://schemas.microsoft.com/office/drawing/2014/main" id="{9A31105D-9108-92C7-456B-D8009A470D56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DC111A6C-85CA-70CF-4DE9-6CE4192E8050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150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>
              <a:extLst>
                <a:ext uri="{FF2B5EF4-FFF2-40B4-BE49-F238E27FC236}">
                  <a16:creationId xmlns:a16="http://schemas.microsoft.com/office/drawing/2014/main" id="{899D342A-7294-66B4-015E-66F26F9EE938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>
                <a:extLst>
                  <a:ext uri="{FF2B5EF4-FFF2-40B4-BE49-F238E27FC236}">
                    <a16:creationId xmlns:a16="http://schemas.microsoft.com/office/drawing/2014/main" id="{D276095D-0AC6-E672-53AE-4A91D58B637C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>
                <a:extLst>
                  <a:ext uri="{FF2B5EF4-FFF2-40B4-BE49-F238E27FC236}">
                    <a16:creationId xmlns:a16="http://schemas.microsoft.com/office/drawing/2014/main" id="{A0E224F9-81CB-475D-4795-F235B266491A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>
                <a:extLst>
                  <a:ext uri="{FF2B5EF4-FFF2-40B4-BE49-F238E27FC236}">
                    <a16:creationId xmlns:a16="http://schemas.microsoft.com/office/drawing/2014/main" id="{0019D33D-461E-3527-7E43-F9801A037FDC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>
                  <a:extLst>
                    <a:ext uri="{FF2B5EF4-FFF2-40B4-BE49-F238E27FC236}">
                      <a16:creationId xmlns:a16="http://schemas.microsoft.com/office/drawing/2014/main" id="{5CC62CBA-8542-246F-65BA-292EE837BECD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>
                  <a:extLst>
                    <a:ext uri="{FF2B5EF4-FFF2-40B4-BE49-F238E27FC236}">
                      <a16:creationId xmlns:a16="http://schemas.microsoft.com/office/drawing/2014/main" id="{EBB485FE-83DA-9C50-CB4D-9631B94DAFB6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>
                  <a:extLst>
                    <a:ext uri="{FF2B5EF4-FFF2-40B4-BE49-F238E27FC236}">
                      <a16:creationId xmlns:a16="http://schemas.microsoft.com/office/drawing/2014/main" id="{597D7ECA-D11F-6F74-7CF7-8A627CBF2578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>
                  <a:extLst>
                    <a:ext uri="{FF2B5EF4-FFF2-40B4-BE49-F238E27FC236}">
                      <a16:creationId xmlns:a16="http://schemas.microsoft.com/office/drawing/2014/main" id="{38F4B919-27A2-8F59-B38D-847170C0A1D8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>
              <a:extLst>
                <a:ext uri="{FF2B5EF4-FFF2-40B4-BE49-F238E27FC236}">
                  <a16:creationId xmlns:a16="http://schemas.microsoft.com/office/drawing/2014/main" id="{713C390F-8C4F-2653-A96C-C5620D1D0079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>
                <a:extLst>
                  <a:ext uri="{FF2B5EF4-FFF2-40B4-BE49-F238E27FC236}">
                    <a16:creationId xmlns:a16="http://schemas.microsoft.com/office/drawing/2014/main" id="{5F6CCCAF-31BA-9FB3-6FD8-82BD096A20BB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>
                  <a:extLst>
                    <a:ext uri="{FF2B5EF4-FFF2-40B4-BE49-F238E27FC236}">
                      <a16:creationId xmlns:a16="http://schemas.microsoft.com/office/drawing/2014/main" id="{2B2EFDA2-07BC-4341-B1E3-1916F7220092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>
                  <a:extLst>
                    <a:ext uri="{FF2B5EF4-FFF2-40B4-BE49-F238E27FC236}">
                      <a16:creationId xmlns:a16="http://schemas.microsoft.com/office/drawing/2014/main" id="{0960BE56-A873-9EA3-BC6F-1E10528651F2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>
                  <a:extLst>
                    <a:ext uri="{FF2B5EF4-FFF2-40B4-BE49-F238E27FC236}">
                      <a16:creationId xmlns:a16="http://schemas.microsoft.com/office/drawing/2014/main" id="{F7C46F11-F55F-0E14-57FE-7722AFD647A1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>
                    <a:extLst>
                      <a:ext uri="{FF2B5EF4-FFF2-40B4-BE49-F238E27FC236}">
                        <a16:creationId xmlns:a16="http://schemas.microsoft.com/office/drawing/2014/main" id="{3BA121F5-6ACF-2F70-B286-B7C43B490A4D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>
                    <a:extLst>
                      <a:ext uri="{FF2B5EF4-FFF2-40B4-BE49-F238E27FC236}">
                        <a16:creationId xmlns:a16="http://schemas.microsoft.com/office/drawing/2014/main" id="{77C9861B-93BF-7245-00A9-6EAC66B07F42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>
                    <a:extLst>
                      <a:ext uri="{FF2B5EF4-FFF2-40B4-BE49-F238E27FC236}">
                        <a16:creationId xmlns:a16="http://schemas.microsoft.com/office/drawing/2014/main" id="{2C027436-3DE3-33DC-6E29-89F50DF47477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>
                    <a:extLst>
                      <a:ext uri="{FF2B5EF4-FFF2-40B4-BE49-F238E27FC236}">
                        <a16:creationId xmlns:a16="http://schemas.microsoft.com/office/drawing/2014/main" id="{1EE8344D-B9D6-C884-49A9-0EDC014FF095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>
                <a:extLst>
                  <a:ext uri="{FF2B5EF4-FFF2-40B4-BE49-F238E27FC236}">
                    <a16:creationId xmlns:a16="http://schemas.microsoft.com/office/drawing/2014/main" id="{43B08C92-4C5E-D0B8-188D-2EC9E0336FCA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>
              <a:extLst>
                <a:ext uri="{FF2B5EF4-FFF2-40B4-BE49-F238E27FC236}">
                  <a16:creationId xmlns:a16="http://schemas.microsoft.com/office/drawing/2014/main" id="{6E9D5396-61BE-314E-C5C2-483362A64816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>
                <a:extLst>
                  <a:ext uri="{FF2B5EF4-FFF2-40B4-BE49-F238E27FC236}">
                    <a16:creationId xmlns:a16="http://schemas.microsoft.com/office/drawing/2014/main" id="{D9DE1EFE-BE9C-6ADF-50DC-3B5C8E52D901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>
                <a:extLst>
                  <a:ext uri="{FF2B5EF4-FFF2-40B4-BE49-F238E27FC236}">
                    <a16:creationId xmlns:a16="http://schemas.microsoft.com/office/drawing/2014/main" id="{8E10346D-8CF3-8B32-C887-3A95AD4913E4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>
              <a:extLst>
                <a:ext uri="{FF2B5EF4-FFF2-40B4-BE49-F238E27FC236}">
                  <a16:creationId xmlns:a16="http://schemas.microsoft.com/office/drawing/2014/main" id="{69F91E80-8C42-914B-5A1B-533638620F15}"/>
                </a:ext>
              </a:extLst>
            </p:cNvPr>
            <p:cNvGrpSpPr/>
            <p:nvPr/>
          </p:nvGrpSpPr>
          <p:grpSpPr>
            <a:xfrm>
              <a:off x="7816120" y="4902803"/>
              <a:ext cx="123062" cy="63817"/>
              <a:chOff x="7816120" y="4902803"/>
              <a:chExt cx="123062" cy="63817"/>
            </a:xfrm>
          </p:grpSpPr>
          <p:grpSp>
            <p:nvGrpSpPr>
              <p:cNvPr id="1010" name="Google Shape;1010;p31">
                <a:extLst>
                  <a:ext uri="{FF2B5EF4-FFF2-40B4-BE49-F238E27FC236}">
                    <a16:creationId xmlns:a16="http://schemas.microsoft.com/office/drawing/2014/main" id="{9D32C9C0-D6FB-0EA0-0BED-00DD74742C69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>
                  <a:extLst>
                    <a:ext uri="{FF2B5EF4-FFF2-40B4-BE49-F238E27FC236}">
                      <a16:creationId xmlns:a16="http://schemas.microsoft.com/office/drawing/2014/main" id="{ACDA89EA-6D9B-1030-84E8-41505A5019F4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>
                  <a:extLst>
                    <a:ext uri="{FF2B5EF4-FFF2-40B4-BE49-F238E27FC236}">
                      <a16:creationId xmlns:a16="http://schemas.microsoft.com/office/drawing/2014/main" id="{662B91DE-E068-75FC-B2C7-AA8E2968F7A1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>
                <a:extLst>
                  <a:ext uri="{FF2B5EF4-FFF2-40B4-BE49-F238E27FC236}">
                    <a16:creationId xmlns:a16="http://schemas.microsoft.com/office/drawing/2014/main" id="{58380276-5A53-38BE-07B6-ADF9A233D408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8C1E2D5-8120-1A43-FDE2-9037DDBD43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34549" y="1425784"/>
            <a:ext cx="3492969" cy="222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7350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EB16C149-1E8F-AE28-137C-B2101FB9A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2A1D02-30A3-4064-89D5-CF3D2EB5F3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7218" y="1175254"/>
            <a:ext cx="1782877" cy="22285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7361A5-355B-4F88-3960-975A020A42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7556" y="1083297"/>
            <a:ext cx="1782877" cy="2228597"/>
          </a:xfrm>
          <a:prstGeom prst="rect">
            <a:avLst/>
          </a:prstGeom>
        </p:spPr>
      </p:pic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BF12334A-277D-333C-AF2E-58E56603DD74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4BE1205A-B7CA-DA90-D8C1-2EBAA5D4AF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96700" y="-176042"/>
            <a:ext cx="4390611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Database</a:t>
            </a:r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9CD41DF8-3A3A-21BC-1E04-9632053BDEA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66926" y="830758"/>
            <a:ext cx="4304177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Normalize the DB to </a:t>
            </a:r>
            <a:r>
              <a:rPr lang="en-150" b="1" noProof="0">
                <a:sym typeface="Wingdings" panose="05000000000000000000" pitchFamily="2" charset="2"/>
              </a:rPr>
              <a:t>3NF</a:t>
            </a:r>
            <a:r>
              <a:rPr lang="en-150" noProof="0">
                <a:sym typeface="Wingdings" panose="05000000000000000000" pitchFamily="2" charset="2"/>
              </a:rPr>
              <a:t> to avoid data redundancy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>
              <a:sym typeface="Wingdings" panose="05000000000000000000" pitchFamily="2" charset="2"/>
            </a:endParaRPr>
          </a:p>
          <a:p>
            <a:pPr marL="324000" indent="-171450"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We </a:t>
            </a:r>
            <a:r>
              <a:rPr lang="en-150" i="1" noProof="0">
                <a:sym typeface="Wingdings" panose="05000000000000000000" pitchFamily="2" charset="2"/>
              </a:rPr>
              <a:t>store the path </a:t>
            </a:r>
            <a:r>
              <a:rPr lang="en-150" noProof="0">
                <a:sym typeface="Wingdings" panose="05000000000000000000" pitchFamily="2" charset="2"/>
              </a:rPr>
              <a:t>to files in the DB, and the actual file on the server to avoid performance degradation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>
              <a:sym typeface="Wingdings" panose="05000000000000000000" pitchFamily="2" charset="2"/>
            </a:endParaRPr>
          </a:p>
          <a:p>
            <a:pPr marL="32400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150" noProof="0">
                <a:sym typeface="Wingdings" panose="05000000000000000000" pitchFamily="2" charset="2"/>
              </a:rPr>
              <a:t>We use JSON Web Tokens for authentication, this enables the backend to be “</a:t>
            </a:r>
            <a:r>
              <a:rPr lang="en-150" b="1" noProof="0">
                <a:sym typeface="Wingdings" panose="05000000000000000000" pitchFamily="2" charset="2"/>
              </a:rPr>
              <a:t>stateless</a:t>
            </a:r>
            <a:r>
              <a:rPr lang="en-150" noProof="0">
                <a:sym typeface="Wingdings" panose="05000000000000000000" pitchFamily="2" charset="2"/>
              </a:rPr>
              <a:t>” – no data stores in server memory</a:t>
            </a:r>
          </a:p>
          <a:p>
            <a:pPr marL="152550" indent="0">
              <a:buNone/>
            </a:pPr>
            <a:endParaRPr lang="en-150" noProof="0">
              <a:sym typeface="Wingdings" panose="05000000000000000000" pitchFamily="2" charset="2"/>
            </a:endParaRPr>
          </a:p>
        </p:txBody>
      </p:sp>
      <p:grpSp>
        <p:nvGrpSpPr>
          <p:cNvPr id="970" name="Google Shape;970;p31">
            <a:extLst>
              <a:ext uri="{FF2B5EF4-FFF2-40B4-BE49-F238E27FC236}">
                <a16:creationId xmlns:a16="http://schemas.microsoft.com/office/drawing/2014/main" id="{B5AB226F-6716-B977-7A08-32F2936F4E4F}"/>
              </a:ext>
            </a:extLst>
          </p:cNvPr>
          <p:cNvGrpSpPr/>
          <p:nvPr/>
        </p:nvGrpSpPr>
        <p:grpSpPr>
          <a:xfrm>
            <a:off x="7875610" y="386632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>
              <a:extLst>
                <a:ext uri="{FF2B5EF4-FFF2-40B4-BE49-F238E27FC236}">
                  <a16:creationId xmlns:a16="http://schemas.microsoft.com/office/drawing/2014/main" id="{B49D6F17-D690-3C54-B6EF-39769E330563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>
                <a:extLst>
                  <a:ext uri="{FF2B5EF4-FFF2-40B4-BE49-F238E27FC236}">
                    <a16:creationId xmlns:a16="http://schemas.microsoft.com/office/drawing/2014/main" id="{0AC9F1D8-AD1B-B7E9-44D3-81FD9B5ED18F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>
                <a:extLst>
                  <a:ext uri="{FF2B5EF4-FFF2-40B4-BE49-F238E27FC236}">
                    <a16:creationId xmlns:a16="http://schemas.microsoft.com/office/drawing/2014/main" id="{E2FE7898-77EE-88FE-3DC3-4E7601E14235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>
                <a:extLst>
                  <a:ext uri="{FF2B5EF4-FFF2-40B4-BE49-F238E27FC236}">
                    <a16:creationId xmlns:a16="http://schemas.microsoft.com/office/drawing/2014/main" id="{1A89A631-D973-0C71-9E46-76149AC06D79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>
                  <a:extLst>
                    <a:ext uri="{FF2B5EF4-FFF2-40B4-BE49-F238E27FC236}">
                      <a16:creationId xmlns:a16="http://schemas.microsoft.com/office/drawing/2014/main" id="{5D01E9C2-5E7B-0799-C2E1-015C11DEC3FD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>
                  <a:extLst>
                    <a:ext uri="{FF2B5EF4-FFF2-40B4-BE49-F238E27FC236}">
                      <a16:creationId xmlns:a16="http://schemas.microsoft.com/office/drawing/2014/main" id="{AB5F7CA6-3977-3C38-345E-1B34CE3435BA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>
                  <a:extLst>
                    <a:ext uri="{FF2B5EF4-FFF2-40B4-BE49-F238E27FC236}">
                      <a16:creationId xmlns:a16="http://schemas.microsoft.com/office/drawing/2014/main" id="{5BA9FBA2-2C1F-E5A0-2EDA-DEEDD47CA5F2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>
                  <a:extLst>
                    <a:ext uri="{FF2B5EF4-FFF2-40B4-BE49-F238E27FC236}">
                      <a16:creationId xmlns:a16="http://schemas.microsoft.com/office/drawing/2014/main" id="{B9DB8411-FD4A-29D0-42AB-72794193C0A7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>
              <a:extLst>
                <a:ext uri="{FF2B5EF4-FFF2-40B4-BE49-F238E27FC236}">
                  <a16:creationId xmlns:a16="http://schemas.microsoft.com/office/drawing/2014/main" id="{34DB91FF-268C-0A4A-096C-523985A661B1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>
                <a:extLst>
                  <a:ext uri="{FF2B5EF4-FFF2-40B4-BE49-F238E27FC236}">
                    <a16:creationId xmlns:a16="http://schemas.microsoft.com/office/drawing/2014/main" id="{43818E00-E68A-F651-0C1A-A8E166651A72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>
                <a:extLst>
                  <a:ext uri="{FF2B5EF4-FFF2-40B4-BE49-F238E27FC236}">
                    <a16:creationId xmlns:a16="http://schemas.microsoft.com/office/drawing/2014/main" id="{1F347D9C-C534-4C85-1AEC-1180138B408F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>
                <a:extLst>
                  <a:ext uri="{FF2B5EF4-FFF2-40B4-BE49-F238E27FC236}">
                    <a16:creationId xmlns:a16="http://schemas.microsoft.com/office/drawing/2014/main" id="{17D75076-E994-2D97-F6A9-3DBCF1E4D862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>
                  <a:extLst>
                    <a:ext uri="{FF2B5EF4-FFF2-40B4-BE49-F238E27FC236}">
                      <a16:creationId xmlns:a16="http://schemas.microsoft.com/office/drawing/2014/main" id="{0B0F00D6-E572-E8B6-8308-342CD13BD0C4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>
                  <a:extLst>
                    <a:ext uri="{FF2B5EF4-FFF2-40B4-BE49-F238E27FC236}">
                      <a16:creationId xmlns:a16="http://schemas.microsoft.com/office/drawing/2014/main" id="{CD4C211C-7718-AD93-744A-A2D5EE040D9D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>
                  <a:extLst>
                    <a:ext uri="{FF2B5EF4-FFF2-40B4-BE49-F238E27FC236}">
                      <a16:creationId xmlns:a16="http://schemas.microsoft.com/office/drawing/2014/main" id="{92B02062-F846-C64A-80CA-9A0E5805AC93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>
                  <a:extLst>
                    <a:ext uri="{FF2B5EF4-FFF2-40B4-BE49-F238E27FC236}">
                      <a16:creationId xmlns:a16="http://schemas.microsoft.com/office/drawing/2014/main" id="{45F1C172-797C-5819-C55B-D5E187B54914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9E880351-2829-78F1-734E-3288DE6AD869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150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>
              <a:extLst>
                <a:ext uri="{FF2B5EF4-FFF2-40B4-BE49-F238E27FC236}">
                  <a16:creationId xmlns:a16="http://schemas.microsoft.com/office/drawing/2014/main" id="{A49C93F7-77D1-706D-F698-F06B7F3DE247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>
                <a:extLst>
                  <a:ext uri="{FF2B5EF4-FFF2-40B4-BE49-F238E27FC236}">
                    <a16:creationId xmlns:a16="http://schemas.microsoft.com/office/drawing/2014/main" id="{4410791F-E0AB-93F8-0F3F-A825EBF84761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>
                <a:extLst>
                  <a:ext uri="{FF2B5EF4-FFF2-40B4-BE49-F238E27FC236}">
                    <a16:creationId xmlns:a16="http://schemas.microsoft.com/office/drawing/2014/main" id="{0CDCF5BB-0A51-4566-EEA7-13A2BDD5612C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>
                <a:extLst>
                  <a:ext uri="{FF2B5EF4-FFF2-40B4-BE49-F238E27FC236}">
                    <a16:creationId xmlns:a16="http://schemas.microsoft.com/office/drawing/2014/main" id="{D80609E1-8489-67D6-1AF4-A389858EF4A8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>
                  <a:extLst>
                    <a:ext uri="{FF2B5EF4-FFF2-40B4-BE49-F238E27FC236}">
                      <a16:creationId xmlns:a16="http://schemas.microsoft.com/office/drawing/2014/main" id="{5371DBF4-1D3A-A1A3-256A-EA2B0070E6EA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>
                  <a:extLst>
                    <a:ext uri="{FF2B5EF4-FFF2-40B4-BE49-F238E27FC236}">
                      <a16:creationId xmlns:a16="http://schemas.microsoft.com/office/drawing/2014/main" id="{863534A0-3797-2220-6C84-48988C452D85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>
                  <a:extLst>
                    <a:ext uri="{FF2B5EF4-FFF2-40B4-BE49-F238E27FC236}">
                      <a16:creationId xmlns:a16="http://schemas.microsoft.com/office/drawing/2014/main" id="{C01AB53F-ADC2-9ACE-A15F-9C47CBAAE240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>
                  <a:extLst>
                    <a:ext uri="{FF2B5EF4-FFF2-40B4-BE49-F238E27FC236}">
                      <a16:creationId xmlns:a16="http://schemas.microsoft.com/office/drawing/2014/main" id="{0F6D8795-54DB-C2E6-4D40-27BF1236494B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>
              <a:extLst>
                <a:ext uri="{FF2B5EF4-FFF2-40B4-BE49-F238E27FC236}">
                  <a16:creationId xmlns:a16="http://schemas.microsoft.com/office/drawing/2014/main" id="{18DD5FE8-596B-6153-487E-15F884C5EAAA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>
                <a:extLst>
                  <a:ext uri="{FF2B5EF4-FFF2-40B4-BE49-F238E27FC236}">
                    <a16:creationId xmlns:a16="http://schemas.microsoft.com/office/drawing/2014/main" id="{EE9F4A66-1D23-4EB5-02C4-D8402785250C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>
                  <a:extLst>
                    <a:ext uri="{FF2B5EF4-FFF2-40B4-BE49-F238E27FC236}">
                      <a16:creationId xmlns:a16="http://schemas.microsoft.com/office/drawing/2014/main" id="{56FA3500-78C4-5471-F10C-5B0CEA212159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>
                  <a:extLst>
                    <a:ext uri="{FF2B5EF4-FFF2-40B4-BE49-F238E27FC236}">
                      <a16:creationId xmlns:a16="http://schemas.microsoft.com/office/drawing/2014/main" id="{D47FFC14-8C70-DE99-3E63-7213B4C44AC3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>
                  <a:extLst>
                    <a:ext uri="{FF2B5EF4-FFF2-40B4-BE49-F238E27FC236}">
                      <a16:creationId xmlns:a16="http://schemas.microsoft.com/office/drawing/2014/main" id="{18253C24-DE73-31F4-9752-228ACCB53CBB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>
                    <a:extLst>
                      <a:ext uri="{FF2B5EF4-FFF2-40B4-BE49-F238E27FC236}">
                        <a16:creationId xmlns:a16="http://schemas.microsoft.com/office/drawing/2014/main" id="{FAF15842-33EE-D4C7-9088-BD5354791528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>
                    <a:extLst>
                      <a:ext uri="{FF2B5EF4-FFF2-40B4-BE49-F238E27FC236}">
                        <a16:creationId xmlns:a16="http://schemas.microsoft.com/office/drawing/2014/main" id="{A34F38B1-B622-5890-D7AD-8ADCEA820977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>
                    <a:extLst>
                      <a:ext uri="{FF2B5EF4-FFF2-40B4-BE49-F238E27FC236}">
                        <a16:creationId xmlns:a16="http://schemas.microsoft.com/office/drawing/2014/main" id="{67CDA389-126C-81CA-FF4B-FDABC91213E2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>
                    <a:extLst>
                      <a:ext uri="{FF2B5EF4-FFF2-40B4-BE49-F238E27FC236}">
                        <a16:creationId xmlns:a16="http://schemas.microsoft.com/office/drawing/2014/main" id="{88E13CAC-7110-C5AB-53C6-C49A1B9B3199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>
                <a:extLst>
                  <a:ext uri="{FF2B5EF4-FFF2-40B4-BE49-F238E27FC236}">
                    <a16:creationId xmlns:a16="http://schemas.microsoft.com/office/drawing/2014/main" id="{42190870-E560-0648-E9BF-46DBA0E0CBA9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>
              <a:extLst>
                <a:ext uri="{FF2B5EF4-FFF2-40B4-BE49-F238E27FC236}">
                  <a16:creationId xmlns:a16="http://schemas.microsoft.com/office/drawing/2014/main" id="{38CE19FD-E4D8-15E4-F5EA-A4745E0B00C2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>
                <a:extLst>
                  <a:ext uri="{FF2B5EF4-FFF2-40B4-BE49-F238E27FC236}">
                    <a16:creationId xmlns:a16="http://schemas.microsoft.com/office/drawing/2014/main" id="{F034C4BD-8DD8-5E98-16FF-F9608E4E91A4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>
                <a:extLst>
                  <a:ext uri="{FF2B5EF4-FFF2-40B4-BE49-F238E27FC236}">
                    <a16:creationId xmlns:a16="http://schemas.microsoft.com/office/drawing/2014/main" id="{5F2589EE-0A2A-1283-D422-1A9DFB7234FF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>
              <a:extLst>
                <a:ext uri="{FF2B5EF4-FFF2-40B4-BE49-F238E27FC236}">
                  <a16:creationId xmlns:a16="http://schemas.microsoft.com/office/drawing/2014/main" id="{5542D886-2E85-A741-02C2-E35A4BAFAAE7}"/>
                </a:ext>
              </a:extLst>
            </p:cNvPr>
            <p:cNvGrpSpPr/>
            <p:nvPr/>
          </p:nvGrpSpPr>
          <p:grpSpPr>
            <a:xfrm>
              <a:off x="7816120" y="4902803"/>
              <a:ext cx="123062" cy="63817"/>
              <a:chOff x="7816120" y="4902803"/>
              <a:chExt cx="123062" cy="63817"/>
            </a:xfrm>
          </p:grpSpPr>
          <p:grpSp>
            <p:nvGrpSpPr>
              <p:cNvPr id="1010" name="Google Shape;1010;p31">
                <a:extLst>
                  <a:ext uri="{FF2B5EF4-FFF2-40B4-BE49-F238E27FC236}">
                    <a16:creationId xmlns:a16="http://schemas.microsoft.com/office/drawing/2014/main" id="{A094AFED-82E7-600E-4813-E69D51949BA3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>
                  <a:extLst>
                    <a:ext uri="{FF2B5EF4-FFF2-40B4-BE49-F238E27FC236}">
                      <a16:creationId xmlns:a16="http://schemas.microsoft.com/office/drawing/2014/main" id="{CEC8FF99-8459-E149-9323-AA533D46F193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>
                  <a:extLst>
                    <a:ext uri="{FF2B5EF4-FFF2-40B4-BE49-F238E27FC236}">
                      <a16:creationId xmlns:a16="http://schemas.microsoft.com/office/drawing/2014/main" id="{7BFFA8B0-A594-A819-0559-D11150FE97D4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>
                <a:extLst>
                  <a:ext uri="{FF2B5EF4-FFF2-40B4-BE49-F238E27FC236}">
                    <a16:creationId xmlns:a16="http://schemas.microsoft.com/office/drawing/2014/main" id="{F1CD761E-7B59-A08A-8345-83DE4657ECDB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7" name="Picture 6" descr="https://www.plantuml.com/plantuml/png/pPPVJziy5CRlyodEs_TYLA9KN723geW_b0bji0xAjhlgD3vjlIPsP3jh2-oxpx4XIWE9Y13JAbLj7lzy_9pZOxT7sg0oMH877-0C3KvH4moluOpZN642CwdWPhWF8oL_KcHW99MPoPXBor-JOAG0pI4iZ4drOR-_MgtsqXX57d4laad_wQ6Vl-sSBmeoJJ3AvTlBpq1hGq9pAO0B-7O3fv9H4EWb5odcwyTSaDca15APXImDA9a95aabIC51IOzYr1hk0x2l4uoMSmUUobWg-BxWXlo8LDQwLqzYYpdrM2cvAek_W-0_HZFh0MnfOjfPTu64uMO3QnWCO6Uy-__v-R5zTI4C2pPLF46rcInfayyOJCD15gu7_ImSzAS5bjUM-5mK6CyP7WQ1NolJf7JNfx8LahCk7CB5rNZuSNZjHdizzv7F49YG7HqFVuojmzkhYw-tmp3qCL3hbKtySTXfb22FQ_WfbsKKMS95PM6k9zfaZ8If36XAI1jILTd2cqcgPDvS2PN3IpL7mU_GS2dAkeLdFAP9oYEJgQqfaI8qn2PeSlNYSdWpFhuSvRlcAvZwfcrNH87RlXZfIF6qQijxGhDu9cf-HvNGc5ehluXLv1h_RYjJzfhK9d8bMdP9kUsAC5kmxOFpJs5OXLr3rfF8M8DV8-t-jVDPtydLFMdP3nE3yxzKCfVsosZXAfAPqjJEK2HPJMtAPMiwYLP92kpj9VL9l4DHTw78hZh9hzdGaLfRz1Nc5Hekvl_4AV9MIcCx-xs3xbjlYwcKIvlIiasABLotA4QBbag8SNo_FQc_mAido8dkJqZpLT-SdVl35BkVDxtWgGxSxpiyFFHwyXwsxtCxjME_wKxmg3Tpn62wwGJR4Oizpw7YeOZOpBqOiN9SSjv-fMhCUj87hQKDUjH-pYsxucRH2TmDseJgPn4VOFjMoi6dkm2Cx0HUBWMjqWlK3JvTOpvYu1uwmH49bYNn7m00">
            <a:extLst>
              <a:ext uri="{FF2B5EF4-FFF2-40B4-BE49-F238E27FC236}">
                <a16:creationId xmlns:a16="http://schemas.microsoft.com/office/drawing/2014/main" id="{86F42640-A935-F31D-B758-2DA177C6D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24" y="2439494"/>
            <a:ext cx="8001000" cy="269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6796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noProof="0"/>
              <a:t>From idea to project: be publicly available</a:t>
            </a:r>
            <a:endParaRPr lang="en-150" sz="2400" noProof="0"/>
          </a:p>
        </p:txBody>
      </p:sp>
      <p:sp>
        <p:nvSpPr>
          <p:cNvPr id="1111" name="Google Shape;1111;p3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noProof="0"/>
              <a:t>No HTTPS for now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GB"/>
              <a:t>Subdomain </a:t>
            </a:r>
            <a:r>
              <a:rPr lang="en-GB" i="1"/>
              <a:t>se1.insects.ltd </a:t>
            </a:r>
            <a:r>
              <a:rPr lang="en-GB"/>
              <a:t>mapped to public IP </a:t>
            </a:r>
            <a:r>
              <a:rPr lang="en-GB" i="1"/>
              <a:t>130.61.214.41 </a:t>
            </a:r>
            <a:r>
              <a:rPr lang="en-GB"/>
              <a:t>using CNAME record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GB"/>
              <a:t>Ingress rule to allow traffic on TCP port 3000 (for Vite server) </a:t>
            </a:r>
            <a:endParaRPr lang="en-150" noProof="0"/>
          </a:p>
        </p:txBody>
      </p:sp>
      <p:sp>
        <p:nvSpPr>
          <p:cNvPr id="1112" name="Google Shape;1112;p34"/>
          <p:cNvSpPr txBox="1">
            <a:spLocks noGrp="1"/>
          </p:cNvSpPr>
          <p:nvPr>
            <p:ph type="sub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noProof="0"/>
              <a:t>Ampere A1 VPS (Arm processor):</a:t>
            </a:r>
          </a:p>
          <a:p>
            <a:pPr marL="628650" lvl="1" indent="-171450" algn="l">
              <a:buFont typeface="Wingdings" panose="05000000000000000000" pitchFamily="2" charset="2"/>
              <a:buChar char="Ø"/>
            </a:pPr>
            <a:r>
              <a:rPr lang="en-GB"/>
              <a:t>4 OCPUs</a:t>
            </a:r>
          </a:p>
          <a:p>
            <a:pPr marL="628650" lvl="1" indent="-171450" algn="l">
              <a:buFont typeface="Wingdings" panose="05000000000000000000" pitchFamily="2" charset="2"/>
              <a:buChar char="Ø"/>
            </a:pPr>
            <a:r>
              <a:rPr lang="en-GB" noProof="0"/>
              <a:t>24 GB of RAM</a:t>
            </a:r>
          </a:p>
          <a:p>
            <a:pPr marL="628650" lvl="1" indent="-171450" algn="l">
              <a:buFont typeface="Wingdings" panose="05000000000000000000" pitchFamily="2" charset="2"/>
              <a:buChar char="Ø"/>
            </a:pPr>
            <a:r>
              <a:rPr lang="en-GB"/>
              <a:t>200 GB block volume (storage)</a:t>
            </a:r>
          </a:p>
          <a:p>
            <a:pPr marL="628650" lvl="1" indent="-171450" algn="l">
              <a:buFont typeface="Wingdings" panose="05000000000000000000" pitchFamily="2" charset="2"/>
              <a:buChar char="Ø"/>
            </a:pPr>
            <a:r>
              <a:rPr lang="en-GB" noProof="0"/>
              <a:t>Ubuntu 25.10</a:t>
            </a:r>
            <a:endParaRPr lang="en-150" noProof="0"/>
          </a:p>
        </p:txBody>
      </p:sp>
      <p:sp>
        <p:nvSpPr>
          <p:cNvPr id="1113" name="Google Shape;1113;p34"/>
          <p:cNvSpPr txBox="1">
            <a:spLocks noGrp="1"/>
          </p:cNvSpPr>
          <p:nvPr>
            <p:ph type="subTitle" idx="3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Oracle Cloud</a:t>
            </a:r>
            <a:endParaRPr lang="en-150" noProof="0"/>
          </a:p>
        </p:txBody>
      </p:sp>
      <p:sp>
        <p:nvSpPr>
          <p:cNvPr id="1109" name="Google Shape;1109;p3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Virtual Cloud Network</a:t>
            </a:r>
            <a:endParaRPr lang="en-150" noProof="0"/>
          </a:p>
        </p:txBody>
      </p:sp>
      <p:grpSp>
        <p:nvGrpSpPr>
          <p:cNvPr id="1114" name="Google Shape;1114;p34"/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150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17F1E4E6-C644-F947-3F01-2E55355C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3010BE-57AF-425C-3C25-3BB1A3B807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7218" y="1175254"/>
            <a:ext cx="1782877" cy="22285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0107536-7BF1-C884-E9B4-50A8332589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7556" y="1083297"/>
            <a:ext cx="1782877" cy="2228597"/>
          </a:xfrm>
          <a:prstGeom prst="rect">
            <a:avLst/>
          </a:prstGeom>
        </p:spPr>
      </p:pic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02DFEF3F-ADED-20D1-F750-EDFA6E357288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noProof="0"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309356EA-6DC1-1A24-5E2B-17507F69AB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4" y="1032900"/>
            <a:ext cx="4390611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Conclusion &amp;</a:t>
            </a:r>
            <a:r>
              <a:rPr lang="fr-FR" noProof="0"/>
              <a:t> r</a:t>
            </a:r>
            <a:r>
              <a:rPr lang="en-150" noProof="0"/>
              <a:t>etrospective</a:t>
            </a:r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987E3F15-625B-8835-A7DE-09258D32FFE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11974" y="2039700"/>
            <a:ext cx="4304177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ym typeface="Wingdings" panose="05000000000000000000" pitchFamily="2" charset="2"/>
              </a:rPr>
              <a:t>Ove</a:t>
            </a:r>
            <a:r>
              <a:rPr lang="fr-FR" noProof="0" err="1">
                <a:sym typeface="Wingdings" panose="05000000000000000000" pitchFamily="2" charset="2"/>
              </a:rPr>
              <a:t>rall</a:t>
            </a:r>
            <a:r>
              <a:rPr lang="fr-FR" noProof="0">
                <a:sym typeface="Wingdings" panose="05000000000000000000" pitchFamily="2" charset="2"/>
              </a:rPr>
              <a:t>, the MVP has been </a:t>
            </a:r>
            <a:r>
              <a:rPr lang="fr-FR" noProof="0" err="1">
                <a:sym typeface="Wingdings" panose="05000000000000000000" pitchFamily="2" charset="2"/>
              </a:rPr>
              <a:t>properly</a:t>
            </a:r>
            <a:r>
              <a:rPr lang="fr-FR" noProof="0">
                <a:sym typeface="Wingdings" panose="05000000000000000000" pitchFamily="2" charset="2"/>
              </a:rPr>
              <a:t> </a:t>
            </a:r>
            <a:r>
              <a:rPr lang="fr-FR" noProof="0" err="1">
                <a:sym typeface="Wingdings" panose="05000000000000000000" pitchFamily="2" charset="2"/>
              </a:rPr>
              <a:t>implemented</a:t>
            </a:r>
            <a:r>
              <a:rPr lang="fr-FR" noProof="0">
                <a:sym typeface="Wingdings" panose="05000000000000000000" pitchFamily="2" charset="2"/>
              </a:rPr>
              <a:t>… but,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ym typeface="Wingdings" panose="05000000000000000000" pitchFamily="2" charset="2"/>
              </a:rPr>
              <a:t>the </a:t>
            </a:r>
            <a:r>
              <a:rPr lang="fr-FR" err="1">
                <a:sym typeface="Wingdings" panose="05000000000000000000" pitchFamily="2" charset="2"/>
              </a:rPr>
              <a:t>project</a:t>
            </a:r>
            <a:r>
              <a:rPr lang="fr-FR">
                <a:sym typeface="Wingdings" panose="05000000000000000000" pitchFamily="2" charset="2"/>
              </a:rPr>
              <a:t> </a:t>
            </a:r>
            <a:r>
              <a:rPr lang="fr-FR" err="1">
                <a:sym typeface="Wingdings" panose="05000000000000000000" pitchFamily="2" charset="2"/>
              </a:rPr>
              <a:t>is</a:t>
            </a:r>
            <a:r>
              <a:rPr lang="fr-FR">
                <a:sym typeface="Wingdings" panose="05000000000000000000" pitchFamily="2" charset="2"/>
              </a:rPr>
              <a:t> </a:t>
            </a:r>
            <a:r>
              <a:rPr lang="fr-FR" b="1">
                <a:sym typeface="Wingdings" panose="05000000000000000000" pitchFamily="2" charset="2"/>
              </a:rPr>
              <a:t>not</a:t>
            </a:r>
            <a:r>
              <a:rPr lang="fr-FR">
                <a:sym typeface="Wingdings" panose="05000000000000000000" pitchFamily="2" charset="2"/>
              </a:rPr>
              <a:t> </a:t>
            </a:r>
            <a:r>
              <a:rPr lang="fr-FR" err="1">
                <a:sym typeface="Wingdings" panose="05000000000000000000" pitchFamily="2" charset="2"/>
              </a:rPr>
              <a:t>done</a:t>
            </a:r>
            <a:r>
              <a:rPr lang="fr-FR">
                <a:sym typeface="Wingdings" panose="05000000000000000000" pitchFamily="2" charset="2"/>
              </a:rPr>
              <a:t> </a:t>
            </a:r>
            <a:r>
              <a:rPr lang="fr-FR" err="1">
                <a:sym typeface="Wingdings" panose="05000000000000000000" pitchFamily="2" charset="2"/>
              </a:rPr>
              <a:t>yet</a:t>
            </a:r>
            <a:r>
              <a:rPr lang="fr-FR">
                <a:sym typeface="Wingdings" panose="05000000000000000000" pitchFamily="2" charset="2"/>
              </a:rPr>
              <a:t>:</a:t>
            </a:r>
          </a:p>
          <a:p>
            <a:pPr marL="171450" indent="-171450"/>
            <a:r>
              <a:rPr lang="fr-FR" err="1">
                <a:sym typeface="Wingdings" panose="05000000000000000000" pitchFamily="2" charset="2"/>
              </a:rPr>
              <a:t>Still</a:t>
            </a:r>
            <a:r>
              <a:rPr lang="fr-FR">
                <a:sym typeface="Wingdings" panose="05000000000000000000" pitchFamily="2" charset="2"/>
              </a:rPr>
              <a:t> </a:t>
            </a:r>
            <a:r>
              <a:rPr lang="fr-FR" err="1">
                <a:sym typeface="Wingdings" panose="05000000000000000000" pitchFamily="2" charset="2"/>
              </a:rPr>
              <a:t>requires</a:t>
            </a:r>
            <a:r>
              <a:rPr lang="fr-FR">
                <a:sym typeface="Wingdings" panose="05000000000000000000" pitchFamily="2" charset="2"/>
              </a:rPr>
              <a:t> clean up, </a:t>
            </a:r>
            <a:r>
              <a:rPr lang="fr-FR" err="1">
                <a:sym typeface="Wingdings" panose="05000000000000000000" pitchFamily="2" charset="2"/>
              </a:rPr>
              <a:t>refactor</a:t>
            </a:r>
            <a:r>
              <a:rPr lang="fr-FR">
                <a:sym typeface="Wingdings" panose="05000000000000000000" pitchFamily="2" charset="2"/>
              </a:rPr>
              <a:t>, </a:t>
            </a:r>
            <a:r>
              <a:rPr lang="fr-FR" err="1">
                <a:sym typeface="Wingdings" panose="05000000000000000000" pitchFamily="2" charset="2"/>
              </a:rPr>
              <a:t>finding</a:t>
            </a:r>
            <a:r>
              <a:rPr lang="fr-FR">
                <a:sym typeface="Wingdings" panose="05000000000000000000" pitchFamily="2" charset="2"/>
              </a:rPr>
              <a:t> bugs and fixing </a:t>
            </a:r>
            <a:r>
              <a:rPr lang="fr-FR" err="1">
                <a:sym typeface="Wingdings" panose="05000000000000000000" pitchFamily="2" charset="2"/>
              </a:rPr>
              <a:t>them</a:t>
            </a:r>
            <a:endParaRPr lang="fr-FR">
              <a:sym typeface="Wingdings" panose="05000000000000000000" pitchFamily="2" charset="2"/>
            </a:endParaRPr>
          </a:p>
          <a:p>
            <a:pPr marL="171450" indent="-171450"/>
            <a:r>
              <a:rPr lang="fr-FR">
                <a:sym typeface="Wingdings" panose="05000000000000000000" pitchFamily="2" charset="2"/>
              </a:rPr>
              <a:t>Switch to production WSGI server, </a:t>
            </a:r>
            <a:r>
              <a:rPr lang="fr-FR" err="1">
                <a:sym typeface="Wingdings" panose="05000000000000000000" pitchFamily="2" charset="2"/>
              </a:rPr>
              <a:t>add</a:t>
            </a:r>
            <a:r>
              <a:rPr lang="fr-FR">
                <a:sym typeface="Wingdings" panose="05000000000000000000" pitchFamily="2" charset="2"/>
              </a:rPr>
              <a:t> HTTPS</a:t>
            </a:r>
          </a:p>
          <a:p>
            <a:pPr marL="171450" indent="-171450"/>
            <a:r>
              <a:rPr lang="fr-FR">
                <a:sym typeface="Wingdings" panose="05000000000000000000" pitchFamily="2" charset="2"/>
              </a:rPr>
              <a:t>Start </a:t>
            </a:r>
            <a:r>
              <a:rPr lang="fr-FR" err="1">
                <a:sym typeface="Wingdings" panose="05000000000000000000" pitchFamily="2" charset="2"/>
              </a:rPr>
              <a:t>rotating</a:t>
            </a:r>
            <a:r>
              <a:rPr lang="fr-FR">
                <a:sym typeface="Wingdings" panose="05000000000000000000" pitchFamily="2" charset="2"/>
              </a:rPr>
              <a:t> JWT secret key, </a:t>
            </a:r>
            <a:r>
              <a:rPr lang="fr-FR" err="1">
                <a:sym typeface="Wingdings" panose="05000000000000000000" pitchFamily="2" charset="2"/>
              </a:rPr>
              <a:t>think</a:t>
            </a:r>
            <a:r>
              <a:rPr lang="fr-FR">
                <a:sym typeface="Wingdings" panose="05000000000000000000" pitchFamily="2" charset="2"/>
              </a:rPr>
              <a:t> about </a:t>
            </a:r>
            <a:r>
              <a:rPr lang="fr-FR" err="1">
                <a:sym typeface="Wingdings" panose="05000000000000000000" pitchFamily="2" charset="2"/>
              </a:rPr>
              <a:t>vectors</a:t>
            </a:r>
            <a:r>
              <a:rPr lang="fr-FR">
                <a:sym typeface="Wingdings" panose="05000000000000000000" pitchFamily="2" charset="2"/>
              </a:rPr>
              <a:t> of </a:t>
            </a:r>
            <a:r>
              <a:rPr lang="fr-FR" err="1">
                <a:sym typeface="Wingdings" panose="05000000000000000000" pitchFamily="2" charset="2"/>
              </a:rPr>
              <a:t>attack</a:t>
            </a:r>
            <a:r>
              <a:rPr lang="fr-FR">
                <a:sym typeface="Wingdings" panose="05000000000000000000" pitchFamily="2" charset="2"/>
              </a:rPr>
              <a:t> like XSS and SQL injection</a:t>
            </a:r>
          </a:p>
        </p:txBody>
      </p:sp>
      <p:grpSp>
        <p:nvGrpSpPr>
          <p:cNvPr id="970" name="Google Shape;970;p31">
            <a:extLst>
              <a:ext uri="{FF2B5EF4-FFF2-40B4-BE49-F238E27FC236}">
                <a16:creationId xmlns:a16="http://schemas.microsoft.com/office/drawing/2014/main" id="{FAC224FE-8C23-0054-6E24-BCBE15BD4C77}"/>
              </a:ext>
            </a:extLst>
          </p:cNvPr>
          <p:cNvGrpSpPr/>
          <p:nvPr/>
        </p:nvGrpSpPr>
        <p:grpSpPr>
          <a:xfrm>
            <a:off x="7875610" y="386632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>
              <a:extLst>
                <a:ext uri="{FF2B5EF4-FFF2-40B4-BE49-F238E27FC236}">
                  <a16:creationId xmlns:a16="http://schemas.microsoft.com/office/drawing/2014/main" id="{C8791279-E60E-9FB2-D049-335831659FE2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>
                <a:extLst>
                  <a:ext uri="{FF2B5EF4-FFF2-40B4-BE49-F238E27FC236}">
                    <a16:creationId xmlns:a16="http://schemas.microsoft.com/office/drawing/2014/main" id="{4D03EDBD-7219-B63B-CA48-4E28DE4FD983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>
                <a:extLst>
                  <a:ext uri="{FF2B5EF4-FFF2-40B4-BE49-F238E27FC236}">
                    <a16:creationId xmlns:a16="http://schemas.microsoft.com/office/drawing/2014/main" id="{1CC86800-D1B8-3477-02CD-E19BDE171114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>
                <a:extLst>
                  <a:ext uri="{FF2B5EF4-FFF2-40B4-BE49-F238E27FC236}">
                    <a16:creationId xmlns:a16="http://schemas.microsoft.com/office/drawing/2014/main" id="{F3027AE4-82B3-2D60-46E4-22018AA1749A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>
                  <a:extLst>
                    <a:ext uri="{FF2B5EF4-FFF2-40B4-BE49-F238E27FC236}">
                      <a16:creationId xmlns:a16="http://schemas.microsoft.com/office/drawing/2014/main" id="{E5E776A7-48A0-B31A-7E14-6DBFB04CFBED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>
                  <a:extLst>
                    <a:ext uri="{FF2B5EF4-FFF2-40B4-BE49-F238E27FC236}">
                      <a16:creationId xmlns:a16="http://schemas.microsoft.com/office/drawing/2014/main" id="{5F691A55-3583-A7D3-B07E-922BFD63C12D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>
                  <a:extLst>
                    <a:ext uri="{FF2B5EF4-FFF2-40B4-BE49-F238E27FC236}">
                      <a16:creationId xmlns:a16="http://schemas.microsoft.com/office/drawing/2014/main" id="{B5FF91B2-0024-A43A-84A4-66C0F539DC6F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>
                  <a:extLst>
                    <a:ext uri="{FF2B5EF4-FFF2-40B4-BE49-F238E27FC236}">
                      <a16:creationId xmlns:a16="http://schemas.microsoft.com/office/drawing/2014/main" id="{CD0A7554-4CF7-2550-4D2D-DC3564F0BA4F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>
              <a:extLst>
                <a:ext uri="{FF2B5EF4-FFF2-40B4-BE49-F238E27FC236}">
                  <a16:creationId xmlns:a16="http://schemas.microsoft.com/office/drawing/2014/main" id="{5CC24DE7-AEF3-0857-E9E8-5C63E3FE3391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>
                <a:extLst>
                  <a:ext uri="{FF2B5EF4-FFF2-40B4-BE49-F238E27FC236}">
                    <a16:creationId xmlns:a16="http://schemas.microsoft.com/office/drawing/2014/main" id="{AC3BBD2E-EBDA-041B-8C44-AE14AF4F7043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>
                <a:extLst>
                  <a:ext uri="{FF2B5EF4-FFF2-40B4-BE49-F238E27FC236}">
                    <a16:creationId xmlns:a16="http://schemas.microsoft.com/office/drawing/2014/main" id="{0C249B59-81F7-92BC-6FB6-6E47AA4A6E55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>
                <a:extLst>
                  <a:ext uri="{FF2B5EF4-FFF2-40B4-BE49-F238E27FC236}">
                    <a16:creationId xmlns:a16="http://schemas.microsoft.com/office/drawing/2014/main" id="{DCE61CB7-6E64-04AC-8BE7-E4C9B309B762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>
                  <a:extLst>
                    <a:ext uri="{FF2B5EF4-FFF2-40B4-BE49-F238E27FC236}">
                      <a16:creationId xmlns:a16="http://schemas.microsoft.com/office/drawing/2014/main" id="{2D209B78-7A89-20FD-5B43-924CB2964401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>
                  <a:extLst>
                    <a:ext uri="{FF2B5EF4-FFF2-40B4-BE49-F238E27FC236}">
                      <a16:creationId xmlns:a16="http://schemas.microsoft.com/office/drawing/2014/main" id="{40BF7665-79CD-D630-86BA-7FD50B13413F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>
                  <a:extLst>
                    <a:ext uri="{FF2B5EF4-FFF2-40B4-BE49-F238E27FC236}">
                      <a16:creationId xmlns:a16="http://schemas.microsoft.com/office/drawing/2014/main" id="{4EEFD469-2137-50CF-3051-6BD40516B3F7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>
                  <a:extLst>
                    <a:ext uri="{FF2B5EF4-FFF2-40B4-BE49-F238E27FC236}">
                      <a16:creationId xmlns:a16="http://schemas.microsoft.com/office/drawing/2014/main" id="{8998688F-ED03-DB7B-8825-F31FBCB38B70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6E1E8D80-42AF-24B6-E3A8-1D3D611EBA07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150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>
              <a:extLst>
                <a:ext uri="{FF2B5EF4-FFF2-40B4-BE49-F238E27FC236}">
                  <a16:creationId xmlns:a16="http://schemas.microsoft.com/office/drawing/2014/main" id="{23C06236-1AFB-3BB9-47E2-E86E40F07823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>
                <a:extLst>
                  <a:ext uri="{FF2B5EF4-FFF2-40B4-BE49-F238E27FC236}">
                    <a16:creationId xmlns:a16="http://schemas.microsoft.com/office/drawing/2014/main" id="{9081B71F-C2B4-409A-DC97-CA9113FF1FF9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>
                <a:extLst>
                  <a:ext uri="{FF2B5EF4-FFF2-40B4-BE49-F238E27FC236}">
                    <a16:creationId xmlns:a16="http://schemas.microsoft.com/office/drawing/2014/main" id="{01A3A988-4C5E-ECA1-B73B-4C3024DDFB58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>
                <a:extLst>
                  <a:ext uri="{FF2B5EF4-FFF2-40B4-BE49-F238E27FC236}">
                    <a16:creationId xmlns:a16="http://schemas.microsoft.com/office/drawing/2014/main" id="{4FD925A5-98B0-4AC1-4C0B-6E1086353A33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>
                  <a:extLst>
                    <a:ext uri="{FF2B5EF4-FFF2-40B4-BE49-F238E27FC236}">
                      <a16:creationId xmlns:a16="http://schemas.microsoft.com/office/drawing/2014/main" id="{2AE4E8AC-43E6-FCFD-2257-1E4AF0EC6381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>
                  <a:extLst>
                    <a:ext uri="{FF2B5EF4-FFF2-40B4-BE49-F238E27FC236}">
                      <a16:creationId xmlns:a16="http://schemas.microsoft.com/office/drawing/2014/main" id="{B9A81A98-5174-756A-0CF9-91AC92FD09CC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>
                  <a:extLst>
                    <a:ext uri="{FF2B5EF4-FFF2-40B4-BE49-F238E27FC236}">
                      <a16:creationId xmlns:a16="http://schemas.microsoft.com/office/drawing/2014/main" id="{0E606A9F-E261-1B6D-CE3B-99999510A0D2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>
                  <a:extLst>
                    <a:ext uri="{FF2B5EF4-FFF2-40B4-BE49-F238E27FC236}">
                      <a16:creationId xmlns:a16="http://schemas.microsoft.com/office/drawing/2014/main" id="{1244AC84-7BCA-D4CA-506D-9A4EBD0F8475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>
              <a:extLst>
                <a:ext uri="{FF2B5EF4-FFF2-40B4-BE49-F238E27FC236}">
                  <a16:creationId xmlns:a16="http://schemas.microsoft.com/office/drawing/2014/main" id="{0BC90C67-1AA6-3467-B117-6EFA7EA60E67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>
                <a:extLst>
                  <a:ext uri="{FF2B5EF4-FFF2-40B4-BE49-F238E27FC236}">
                    <a16:creationId xmlns:a16="http://schemas.microsoft.com/office/drawing/2014/main" id="{DF3F2DC3-44EE-3FBB-3D58-D1141DAB58B8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>
                  <a:extLst>
                    <a:ext uri="{FF2B5EF4-FFF2-40B4-BE49-F238E27FC236}">
                      <a16:creationId xmlns:a16="http://schemas.microsoft.com/office/drawing/2014/main" id="{84DD49EC-753A-48BA-FEA0-DFA19E72C20A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>
                  <a:extLst>
                    <a:ext uri="{FF2B5EF4-FFF2-40B4-BE49-F238E27FC236}">
                      <a16:creationId xmlns:a16="http://schemas.microsoft.com/office/drawing/2014/main" id="{49FBFB20-2579-7145-4E63-D944D8DAA999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>
                  <a:extLst>
                    <a:ext uri="{FF2B5EF4-FFF2-40B4-BE49-F238E27FC236}">
                      <a16:creationId xmlns:a16="http://schemas.microsoft.com/office/drawing/2014/main" id="{F8351A6D-21EE-9A8F-4246-84D50A088A25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>
                    <a:extLst>
                      <a:ext uri="{FF2B5EF4-FFF2-40B4-BE49-F238E27FC236}">
                        <a16:creationId xmlns:a16="http://schemas.microsoft.com/office/drawing/2014/main" id="{1AB270E6-47C4-840F-3CF0-12F2859DA0C4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>
                    <a:extLst>
                      <a:ext uri="{FF2B5EF4-FFF2-40B4-BE49-F238E27FC236}">
                        <a16:creationId xmlns:a16="http://schemas.microsoft.com/office/drawing/2014/main" id="{4EA3357C-43B8-693F-F82C-3B52D1BA6FE3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>
                    <a:extLst>
                      <a:ext uri="{FF2B5EF4-FFF2-40B4-BE49-F238E27FC236}">
                        <a16:creationId xmlns:a16="http://schemas.microsoft.com/office/drawing/2014/main" id="{EB5A6219-D533-0D51-13BC-834C81AF3BB7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>
                    <a:extLst>
                      <a:ext uri="{FF2B5EF4-FFF2-40B4-BE49-F238E27FC236}">
                        <a16:creationId xmlns:a16="http://schemas.microsoft.com/office/drawing/2014/main" id="{A51321E4-E0C7-C1B0-5EE9-57AEA38537F6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150" sz="1800" noProof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>
                <a:extLst>
                  <a:ext uri="{FF2B5EF4-FFF2-40B4-BE49-F238E27FC236}">
                    <a16:creationId xmlns:a16="http://schemas.microsoft.com/office/drawing/2014/main" id="{2B4B109C-397C-B0F4-2DD1-59873FBC6378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>
              <a:extLst>
                <a:ext uri="{FF2B5EF4-FFF2-40B4-BE49-F238E27FC236}">
                  <a16:creationId xmlns:a16="http://schemas.microsoft.com/office/drawing/2014/main" id="{40A11ABE-734A-4D96-E02F-D49666C36BE6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>
                <a:extLst>
                  <a:ext uri="{FF2B5EF4-FFF2-40B4-BE49-F238E27FC236}">
                    <a16:creationId xmlns:a16="http://schemas.microsoft.com/office/drawing/2014/main" id="{C1581076-25F9-E7BA-F7DD-C497032B2B55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>
                <a:extLst>
                  <a:ext uri="{FF2B5EF4-FFF2-40B4-BE49-F238E27FC236}">
                    <a16:creationId xmlns:a16="http://schemas.microsoft.com/office/drawing/2014/main" id="{89738655-6F30-0A19-A070-BA207885AC8F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>
              <a:extLst>
                <a:ext uri="{FF2B5EF4-FFF2-40B4-BE49-F238E27FC236}">
                  <a16:creationId xmlns:a16="http://schemas.microsoft.com/office/drawing/2014/main" id="{95A4A2EF-8908-4DC7-017F-B12CA77A159C}"/>
                </a:ext>
              </a:extLst>
            </p:cNvPr>
            <p:cNvGrpSpPr/>
            <p:nvPr/>
          </p:nvGrpSpPr>
          <p:grpSpPr>
            <a:xfrm>
              <a:off x="7816120" y="4902803"/>
              <a:ext cx="123062" cy="63817"/>
              <a:chOff x="7816120" y="4902803"/>
              <a:chExt cx="123062" cy="63817"/>
            </a:xfrm>
          </p:grpSpPr>
          <p:grpSp>
            <p:nvGrpSpPr>
              <p:cNvPr id="1010" name="Google Shape;1010;p31">
                <a:extLst>
                  <a:ext uri="{FF2B5EF4-FFF2-40B4-BE49-F238E27FC236}">
                    <a16:creationId xmlns:a16="http://schemas.microsoft.com/office/drawing/2014/main" id="{977EEA10-5526-3B22-B47F-BA7B33263798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>
                  <a:extLst>
                    <a:ext uri="{FF2B5EF4-FFF2-40B4-BE49-F238E27FC236}">
                      <a16:creationId xmlns:a16="http://schemas.microsoft.com/office/drawing/2014/main" id="{7F65E4E0-89FF-92DE-C750-4B8595DB3C92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>
                  <a:extLst>
                    <a:ext uri="{FF2B5EF4-FFF2-40B4-BE49-F238E27FC236}">
                      <a16:creationId xmlns:a16="http://schemas.microsoft.com/office/drawing/2014/main" id="{FA625546-F48D-B173-24B2-B9A076EF7424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150" sz="1800" noProof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>
                <a:extLst>
                  <a:ext uri="{FF2B5EF4-FFF2-40B4-BE49-F238E27FC236}">
                    <a16:creationId xmlns:a16="http://schemas.microsoft.com/office/drawing/2014/main" id="{2E174150-F688-F7D1-3C6D-F1F8E07D1DCA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540E60-6FA4-9FC2-F86C-6333544F8F4F}"/>
              </a:ext>
            </a:extLst>
          </p:cNvPr>
          <p:cNvGrpSpPr/>
          <p:nvPr/>
        </p:nvGrpSpPr>
        <p:grpSpPr>
          <a:xfrm>
            <a:off x="6276667" y="1454484"/>
            <a:ext cx="1782877" cy="2228597"/>
            <a:chOff x="3365968" y="212438"/>
            <a:chExt cx="1782877" cy="222859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B9A5BA4-320D-51ED-FB0D-C779E2E53B09}"/>
                </a:ext>
              </a:extLst>
            </p:cNvPr>
            <p:cNvSpPr/>
            <p:nvPr/>
          </p:nvSpPr>
          <p:spPr>
            <a:xfrm>
              <a:off x="3807217" y="845707"/>
              <a:ext cx="908791" cy="9087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 noProof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2CA2D4D-7319-DE52-A6DF-0512FB929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365968" y="212438"/>
              <a:ext cx="1782877" cy="22285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176080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EABC28B9-CB08-322E-3869-95DF4200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9">
            <a:extLst>
              <a:ext uri="{FF2B5EF4-FFF2-40B4-BE49-F238E27FC236}">
                <a16:creationId xmlns:a16="http://schemas.microsoft.com/office/drawing/2014/main" id="{9B969530-0C92-B843-29EB-4412F5DB5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noProof="0"/>
              <a:t>LIVE DEMO</a:t>
            </a:r>
          </a:p>
        </p:txBody>
      </p:sp>
      <p:sp>
        <p:nvSpPr>
          <p:cNvPr id="1295" name="Google Shape;1295;p39">
            <a:extLst>
              <a:ext uri="{FF2B5EF4-FFF2-40B4-BE49-F238E27FC236}">
                <a16:creationId xmlns:a16="http://schemas.microsoft.com/office/drawing/2014/main" id="{4A5F9305-8893-E924-DB6D-DBE29F637A7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7593" y="2877847"/>
            <a:ext cx="6576000" cy="9730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 noProof="0"/>
              <a:t>You can try for yourselves!</a:t>
            </a:r>
          </a:p>
          <a:p>
            <a:pPr marL="0" lvl="0" indent="0"/>
            <a:r>
              <a:rPr lang="en-GB" sz="3600" i="1">
                <a:hlinkClick r:id="rId3"/>
              </a:rPr>
              <a:t>http://se1.insects.ltd:3000/</a:t>
            </a:r>
            <a:endParaRPr lang="en-GB" sz="3600" i="1"/>
          </a:p>
          <a:p>
            <a:pPr marL="0" lvl="0" indent="0"/>
            <a:endParaRPr lang="en-150" sz="1800" i="1" noProof="0"/>
          </a:p>
        </p:txBody>
      </p:sp>
      <p:grpSp>
        <p:nvGrpSpPr>
          <p:cNvPr id="1296" name="Google Shape;1296;p39">
            <a:extLst>
              <a:ext uri="{FF2B5EF4-FFF2-40B4-BE49-F238E27FC236}">
                <a16:creationId xmlns:a16="http://schemas.microsoft.com/office/drawing/2014/main" id="{D20C828B-A42F-2E37-C560-986E7F1B4C60}"/>
              </a:ext>
            </a:extLst>
          </p:cNvPr>
          <p:cNvGrpSpPr/>
          <p:nvPr/>
        </p:nvGrpSpPr>
        <p:grpSpPr>
          <a:xfrm>
            <a:off x="254436" y="628824"/>
            <a:ext cx="917374" cy="683570"/>
            <a:chOff x="1914620" y="1930431"/>
            <a:chExt cx="572929" cy="426911"/>
          </a:xfrm>
        </p:grpSpPr>
        <p:grpSp>
          <p:nvGrpSpPr>
            <p:cNvPr id="1297" name="Google Shape;1297;p39">
              <a:extLst>
                <a:ext uri="{FF2B5EF4-FFF2-40B4-BE49-F238E27FC236}">
                  <a16:creationId xmlns:a16="http://schemas.microsoft.com/office/drawing/2014/main" id="{49B92D16-6C6C-0169-6DFA-4DA326C36E6D}"/>
                </a:ext>
              </a:extLst>
            </p:cNvPr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298" name="Google Shape;1298;p39">
                <a:extLst>
                  <a:ext uri="{FF2B5EF4-FFF2-40B4-BE49-F238E27FC236}">
                    <a16:creationId xmlns:a16="http://schemas.microsoft.com/office/drawing/2014/main" id="{9BFFF78E-5AD7-252A-6517-28E37B1EE13F}"/>
                  </a:ext>
                </a:extLst>
              </p:cNvPr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39">
                <a:extLst>
                  <a:ext uri="{FF2B5EF4-FFF2-40B4-BE49-F238E27FC236}">
                    <a16:creationId xmlns:a16="http://schemas.microsoft.com/office/drawing/2014/main" id="{18EBB053-2D58-30A2-F197-8140AB027AA4}"/>
                  </a:ext>
                </a:extLst>
              </p:cNvPr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39">
                <a:extLst>
                  <a:ext uri="{FF2B5EF4-FFF2-40B4-BE49-F238E27FC236}">
                    <a16:creationId xmlns:a16="http://schemas.microsoft.com/office/drawing/2014/main" id="{D1BA5AD8-ED8D-0A78-FED7-06A0A14D80C9}"/>
                  </a:ext>
                </a:extLst>
              </p:cNvPr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150" sz="1800" noProof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1" name="Google Shape;1301;p39">
              <a:extLst>
                <a:ext uri="{FF2B5EF4-FFF2-40B4-BE49-F238E27FC236}">
                  <a16:creationId xmlns:a16="http://schemas.microsoft.com/office/drawing/2014/main" id="{9E423BBF-2A77-D982-2C88-8361127C6C36}"/>
                </a:ext>
              </a:extLst>
            </p:cNvPr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150" sz="1800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C65697-CA08-1AC6-1F1C-C98B86294F0E}"/>
              </a:ext>
            </a:extLst>
          </p:cNvPr>
          <p:cNvGrpSpPr/>
          <p:nvPr/>
        </p:nvGrpSpPr>
        <p:grpSpPr>
          <a:xfrm>
            <a:off x="4771690" y="1957850"/>
            <a:ext cx="366893" cy="352567"/>
            <a:chOff x="4861433" y="1654952"/>
            <a:chExt cx="838116" cy="694770"/>
          </a:xfrm>
        </p:grpSpPr>
        <p:grpSp>
          <p:nvGrpSpPr>
            <p:cNvPr id="2" name="Google Shape;6017;p61">
              <a:extLst>
                <a:ext uri="{FF2B5EF4-FFF2-40B4-BE49-F238E27FC236}">
                  <a16:creationId xmlns:a16="http://schemas.microsoft.com/office/drawing/2014/main" id="{77EF57DF-D022-E8E3-6D2B-E8CDB458AB0B}"/>
                </a:ext>
              </a:extLst>
            </p:cNvPr>
            <p:cNvGrpSpPr/>
            <p:nvPr/>
          </p:nvGrpSpPr>
          <p:grpSpPr>
            <a:xfrm>
              <a:off x="4861433" y="1654952"/>
              <a:ext cx="838116" cy="694770"/>
              <a:chOff x="7421488" y="2318518"/>
              <a:chExt cx="342620" cy="328459"/>
            </a:xfrm>
          </p:grpSpPr>
          <p:sp>
            <p:nvSpPr>
              <p:cNvPr id="3" name="Google Shape;6018;p61">
                <a:extLst>
                  <a:ext uri="{FF2B5EF4-FFF2-40B4-BE49-F238E27FC236}">
                    <a16:creationId xmlns:a16="http://schemas.microsoft.com/office/drawing/2014/main" id="{8C7EB80B-93D9-1477-E4F6-6EC299CF8C18}"/>
                  </a:ext>
                </a:extLst>
              </p:cNvPr>
              <p:cNvSpPr/>
              <p:nvPr/>
            </p:nvSpPr>
            <p:spPr>
              <a:xfrm>
                <a:off x="7531754" y="2515641"/>
                <a:ext cx="9117" cy="18969"/>
              </a:xfrm>
              <a:custGeom>
                <a:avLst/>
                <a:gdLst/>
                <a:ahLst/>
                <a:cxnLst/>
                <a:rect l="l" t="t" r="r" b="b"/>
                <a:pathLst>
                  <a:path w="347" h="722" extrusionOk="0">
                    <a:moveTo>
                      <a:pt x="305" y="1"/>
                    </a:moveTo>
                    <a:lnTo>
                      <a:pt x="0" y="299"/>
                    </a:lnTo>
                    <a:cubicBezTo>
                      <a:pt x="104" y="451"/>
                      <a:pt x="222" y="590"/>
                      <a:pt x="347" y="722"/>
                    </a:cubicBezTo>
                    <a:cubicBezTo>
                      <a:pt x="319" y="479"/>
                      <a:pt x="305" y="236"/>
                      <a:pt x="305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15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" name="Google Shape;6019;p61">
                <a:extLst>
                  <a:ext uri="{FF2B5EF4-FFF2-40B4-BE49-F238E27FC236}">
                    <a16:creationId xmlns:a16="http://schemas.microsoft.com/office/drawing/2014/main" id="{D1F0C6C0-F6EE-99E5-72A6-A64E1E76FF35}"/>
                  </a:ext>
                </a:extLst>
              </p:cNvPr>
              <p:cNvSpPr/>
              <p:nvPr/>
            </p:nvSpPr>
            <p:spPr>
              <a:xfrm>
                <a:off x="7540844" y="2339983"/>
                <a:ext cx="223264" cy="234902"/>
              </a:xfrm>
              <a:custGeom>
                <a:avLst/>
                <a:gdLst/>
                <a:ahLst/>
                <a:cxnLst/>
                <a:rect l="l" t="t" r="r" b="b"/>
                <a:pathLst>
                  <a:path w="8498" h="8941" extrusionOk="0">
                    <a:moveTo>
                      <a:pt x="7409" y="0"/>
                    </a:moveTo>
                    <a:cubicBezTo>
                      <a:pt x="7409" y="0"/>
                      <a:pt x="7721" y="2081"/>
                      <a:pt x="6625" y="3170"/>
                    </a:cubicBezTo>
                    <a:lnTo>
                      <a:pt x="3178" y="6631"/>
                    </a:lnTo>
                    <a:cubicBezTo>
                      <a:pt x="2481" y="7323"/>
                      <a:pt x="1387" y="7449"/>
                      <a:pt x="681" y="7449"/>
                    </a:cubicBezTo>
                    <a:cubicBezTo>
                      <a:pt x="277" y="7449"/>
                      <a:pt x="1" y="7408"/>
                      <a:pt x="1" y="7408"/>
                    </a:cubicBezTo>
                    <a:lnTo>
                      <a:pt x="1" y="7408"/>
                    </a:lnTo>
                    <a:cubicBezTo>
                      <a:pt x="341" y="7748"/>
                      <a:pt x="764" y="7997"/>
                      <a:pt x="1236" y="8129"/>
                    </a:cubicBezTo>
                    <a:lnTo>
                      <a:pt x="2047" y="8941"/>
                    </a:lnTo>
                    <a:cubicBezTo>
                      <a:pt x="2734" y="8497"/>
                      <a:pt x="3372" y="7984"/>
                      <a:pt x="3955" y="7408"/>
                    </a:cubicBezTo>
                    <a:lnTo>
                      <a:pt x="7409" y="3947"/>
                    </a:lnTo>
                    <a:cubicBezTo>
                      <a:pt x="8498" y="2858"/>
                      <a:pt x="8498" y="1089"/>
                      <a:pt x="7409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15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" name="Google Shape;6020;p61">
                <a:extLst>
                  <a:ext uri="{FF2B5EF4-FFF2-40B4-BE49-F238E27FC236}">
                    <a16:creationId xmlns:a16="http://schemas.microsoft.com/office/drawing/2014/main" id="{6FC7DFB3-0769-0121-193F-15C6F79C760B}"/>
                  </a:ext>
                </a:extLst>
              </p:cNvPr>
              <p:cNvSpPr/>
              <p:nvPr/>
            </p:nvSpPr>
            <p:spPr>
              <a:xfrm>
                <a:off x="7520456" y="2318518"/>
                <a:ext cx="235270" cy="227756"/>
              </a:xfrm>
              <a:custGeom>
                <a:avLst/>
                <a:gdLst/>
                <a:ahLst/>
                <a:cxnLst/>
                <a:rect l="l" t="t" r="r" b="b"/>
                <a:pathLst>
                  <a:path w="8955" h="8669" extrusionOk="0">
                    <a:moveTo>
                      <a:pt x="6211" y="1422"/>
                    </a:moveTo>
                    <a:cubicBezTo>
                      <a:pt x="6562" y="1422"/>
                      <a:pt x="6912" y="1556"/>
                      <a:pt x="7179" y="1823"/>
                    </a:cubicBezTo>
                    <a:cubicBezTo>
                      <a:pt x="7713" y="2357"/>
                      <a:pt x="7713" y="3224"/>
                      <a:pt x="7179" y="3765"/>
                    </a:cubicBezTo>
                    <a:lnTo>
                      <a:pt x="5445" y="5499"/>
                    </a:lnTo>
                    <a:lnTo>
                      <a:pt x="5077" y="5589"/>
                    </a:lnTo>
                    <a:lnTo>
                      <a:pt x="3822" y="7122"/>
                    </a:lnTo>
                    <a:lnTo>
                      <a:pt x="3725" y="7219"/>
                    </a:lnTo>
                    <a:cubicBezTo>
                      <a:pt x="3455" y="7496"/>
                      <a:pt x="3097" y="7635"/>
                      <a:pt x="2739" y="7635"/>
                    </a:cubicBezTo>
                    <a:cubicBezTo>
                      <a:pt x="2388" y="7635"/>
                      <a:pt x="2037" y="7501"/>
                      <a:pt x="1769" y="7233"/>
                    </a:cubicBezTo>
                    <a:cubicBezTo>
                      <a:pt x="1228" y="6692"/>
                      <a:pt x="1235" y="5811"/>
                      <a:pt x="1783" y="5277"/>
                    </a:cubicBezTo>
                    <a:lnTo>
                      <a:pt x="5237" y="1823"/>
                    </a:lnTo>
                    <a:cubicBezTo>
                      <a:pt x="5507" y="1556"/>
                      <a:pt x="5859" y="1422"/>
                      <a:pt x="6211" y="1422"/>
                    </a:cubicBezTo>
                    <a:close/>
                    <a:moveTo>
                      <a:pt x="6211" y="0"/>
                    </a:moveTo>
                    <a:cubicBezTo>
                      <a:pt x="5495" y="0"/>
                      <a:pt x="4779" y="273"/>
                      <a:pt x="4231" y="817"/>
                    </a:cubicBezTo>
                    <a:lnTo>
                      <a:pt x="777" y="4271"/>
                    </a:lnTo>
                    <a:lnTo>
                      <a:pt x="0" y="6678"/>
                    </a:lnTo>
                    <a:cubicBezTo>
                      <a:pt x="63" y="7080"/>
                      <a:pt x="208" y="7469"/>
                      <a:pt x="437" y="7809"/>
                    </a:cubicBezTo>
                    <a:lnTo>
                      <a:pt x="479" y="7767"/>
                    </a:lnTo>
                    <a:cubicBezTo>
                      <a:pt x="548" y="7941"/>
                      <a:pt x="652" y="8093"/>
                      <a:pt x="784" y="8225"/>
                    </a:cubicBezTo>
                    <a:cubicBezTo>
                      <a:pt x="1082" y="8523"/>
                      <a:pt x="1494" y="8668"/>
                      <a:pt x="1951" y="8668"/>
                    </a:cubicBezTo>
                    <a:cubicBezTo>
                      <a:pt x="2079" y="8668"/>
                      <a:pt x="2211" y="8657"/>
                      <a:pt x="2345" y="8634"/>
                    </a:cubicBezTo>
                    <a:cubicBezTo>
                      <a:pt x="2948" y="8523"/>
                      <a:pt x="3600" y="8183"/>
                      <a:pt x="4148" y="7642"/>
                    </a:cubicBezTo>
                    <a:lnTo>
                      <a:pt x="7602" y="4188"/>
                    </a:lnTo>
                    <a:cubicBezTo>
                      <a:pt x="8691" y="3092"/>
                      <a:pt x="8955" y="1587"/>
                      <a:pt x="8185" y="817"/>
                    </a:cubicBezTo>
                    <a:cubicBezTo>
                      <a:pt x="7640" y="273"/>
                      <a:pt x="6926" y="0"/>
                      <a:pt x="621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15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" name="Google Shape;6021;p61">
                <a:extLst>
                  <a:ext uri="{FF2B5EF4-FFF2-40B4-BE49-F238E27FC236}">
                    <a16:creationId xmlns:a16="http://schemas.microsoft.com/office/drawing/2014/main" id="{9674AA35-EE14-FDCC-17BF-DCE43BA94EB2}"/>
                  </a:ext>
                </a:extLst>
              </p:cNvPr>
              <p:cNvSpPr/>
              <p:nvPr/>
            </p:nvSpPr>
            <p:spPr>
              <a:xfrm>
                <a:off x="7450283" y="2573598"/>
                <a:ext cx="152013" cy="73379"/>
              </a:xfrm>
              <a:custGeom>
                <a:avLst/>
                <a:gdLst/>
                <a:ahLst/>
                <a:cxnLst/>
                <a:rect l="l" t="t" r="r" b="b"/>
                <a:pathLst>
                  <a:path w="5786" h="2793" extrusionOk="0">
                    <a:moveTo>
                      <a:pt x="4370" y="0"/>
                    </a:moveTo>
                    <a:lnTo>
                      <a:pt x="3171" y="1193"/>
                    </a:lnTo>
                    <a:cubicBezTo>
                      <a:pt x="2482" y="1886"/>
                      <a:pt x="1398" y="2013"/>
                      <a:pt x="693" y="2013"/>
                    </a:cubicBezTo>
                    <a:cubicBezTo>
                      <a:pt x="283" y="2013"/>
                      <a:pt x="1" y="1970"/>
                      <a:pt x="1" y="1970"/>
                    </a:cubicBezTo>
                    <a:lnTo>
                      <a:pt x="1" y="1970"/>
                    </a:lnTo>
                    <a:cubicBezTo>
                      <a:pt x="545" y="2518"/>
                      <a:pt x="1260" y="2792"/>
                      <a:pt x="1974" y="2792"/>
                    </a:cubicBezTo>
                    <a:cubicBezTo>
                      <a:pt x="2688" y="2792"/>
                      <a:pt x="3403" y="2518"/>
                      <a:pt x="3947" y="1970"/>
                    </a:cubicBezTo>
                    <a:lnTo>
                      <a:pt x="5785" y="139"/>
                    </a:lnTo>
                    <a:lnTo>
                      <a:pt x="4370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15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" name="Google Shape;6022;p61">
                <a:extLst>
                  <a:ext uri="{FF2B5EF4-FFF2-40B4-BE49-F238E27FC236}">
                    <a16:creationId xmlns:a16="http://schemas.microsoft.com/office/drawing/2014/main" id="{4F128CF8-E058-2140-B90B-F7CF77B3D7D9}"/>
                  </a:ext>
                </a:extLst>
              </p:cNvPr>
              <p:cNvSpPr/>
              <p:nvPr/>
            </p:nvSpPr>
            <p:spPr>
              <a:xfrm>
                <a:off x="7565093" y="2530958"/>
                <a:ext cx="83310" cy="46713"/>
              </a:xfrm>
              <a:custGeom>
                <a:avLst/>
                <a:gdLst/>
                <a:ahLst/>
                <a:cxnLst/>
                <a:rect l="l" t="t" r="r" b="b"/>
                <a:pathLst>
                  <a:path w="3171" h="1778" extrusionOk="0">
                    <a:moveTo>
                      <a:pt x="3170" y="0"/>
                    </a:moveTo>
                    <a:lnTo>
                      <a:pt x="3032" y="132"/>
                    </a:lnTo>
                    <a:cubicBezTo>
                      <a:pt x="2507" y="663"/>
                      <a:pt x="1792" y="953"/>
                      <a:pt x="1054" y="953"/>
                    </a:cubicBezTo>
                    <a:cubicBezTo>
                      <a:pt x="935" y="953"/>
                      <a:pt x="814" y="945"/>
                      <a:pt x="694" y="930"/>
                    </a:cubicBezTo>
                    <a:lnTo>
                      <a:pt x="0" y="1623"/>
                    </a:lnTo>
                    <a:cubicBezTo>
                      <a:pt x="346" y="1728"/>
                      <a:pt x="704" y="1777"/>
                      <a:pt x="1064" y="1777"/>
                    </a:cubicBezTo>
                    <a:cubicBezTo>
                      <a:pt x="1181" y="1777"/>
                      <a:pt x="1298" y="1772"/>
                      <a:pt x="1415" y="1762"/>
                    </a:cubicBezTo>
                    <a:lnTo>
                      <a:pt x="3032" y="139"/>
                    </a:lnTo>
                    <a:cubicBezTo>
                      <a:pt x="3080" y="97"/>
                      <a:pt x="3122" y="49"/>
                      <a:pt x="3170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15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" name="Google Shape;6023;p61">
                <a:extLst>
                  <a:ext uri="{FF2B5EF4-FFF2-40B4-BE49-F238E27FC236}">
                    <a16:creationId xmlns:a16="http://schemas.microsoft.com/office/drawing/2014/main" id="{BD591237-BFF6-5C08-20D4-8C36183C25C9}"/>
                  </a:ext>
                </a:extLst>
              </p:cNvPr>
              <p:cNvSpPr/>
              <p:nvPr/>
            </p:nvSpPr>
            <p:spPr>
              <a:xfrm>
                <a:off x="7421488" y="2409447"/>
                <a:ext cx="236558" cy="227599"/>
              </a:xfrm>
              <a:custGeom>
                <a:avLst/>
                <a:gdLst/>
                <a:ahLst/>
                <a:cxnLst/>
                <a:rect l="l" t="t" r="r" b="b"/>
                <a:pathLst>
                  <a:path w="9004" h="8663" extrusionOk="0">
                    <a:moveTo>
                      <a:pt x="6524" y="0"/>
                    </a:moveTo>
                    <a:cubicBezTo>
                      <a:pt x="5810" y="0"/>
                      <a:pt x="5095" y="273"/>
                      <a:pt x="4551" y="817"/>
                    </a:cubicBezTo>
                    <a:lnTo>
                      <a:pt x="1097" y="4271"/>
                    </a:lnTo>
                    <a:cubicBezTo>
                      <a:pt x="1" y="5360"/>
                      <a:pt x="1" y="7129"/>
                      <a:pt x="1097" y="8225"/>
                    </a:cubicBezTo>
                    <a:cubicBezTo>
                      <a:pt x="1393" y="8521"/>
                      <a:pt x="1801" y="8663"/>
                      <a:pt x="2255" y="8663"/>
                    </a:cubicBezTo>
                    <a:cubicBezTo>
                      <a:pt x="2386" y="8663"/>
                      <a:pt x="2520" y="8651"/>
                      <a:pt x="2657" y="8627"/>
                    </a:cubicBezTo>
                    <a:cubicBezTo>
                      <a:pt x="3261" y="8523"/>
                      <a:pt x="3913" y="8183"/>
                      <a:pt x="4461" y="7642"/>
                    </a:cubicBezTo>
                    <a:lnTo>
                      <a:pt x="5779" y="6325"/>
                    </a:lnTo>
                    <a:cubicBezTo>
                      <a:pt x="5779" y="6325"/>
                      <a:pt x="5632" y="6119"/>
                      <a:pt x="5240" y="6119"/>
                    </a:cubicBezTo>
                    <a:cubicBezTo>
                      <a:pt x="5206" y="6119"/>
                      <a:pt x="5171" y="6120"/>
                      <a:pt x="5134" y="6123"/>
                    </a:cubicBezTo>
                    <a:lnTo>
                      <a:pt x="4045" y="7219"/>
                    </a:lnTo>
                    <a:cubicBezTo>
                      <a:pt x="3775" y="7496"/>
                      <a:pt x="3417" y="7635"/>
                      <a:pt x="3059" y="7635"/>
                    </a:cubicBezTo>
                    <a:cubicBezTo>
                      <a:pt x="2708" y="7635"/>
                      <a:pt x="2356" y="7501"/>
                      <a:pt x="2089" y="7233"/>
                    </a:cubicBezTo>
                    <a:cubicBezTo>
                      <a:pt x="1548" y="6692"/>
                      <a:pt x="1554" y="5811"/>
                      <a:pt x="2102" y="5277"/>
                    </a:cubicBezTo>
                    <a:lnTo>
                      <a:pt x="5557" y="1823"/>
                    </a:lnTo>
                    <a:cubicBezTo>
                      <a:pt x="5820" y="1559"/>
                      <a:pt x="6168" y="1427"/>
                      <a:pt x="6517" y="1427"/>
                    </a:cubicBezTo>
                    <a:cubicBezTo>
                      <a:pt x="6847" y="1427"/>
                      <a:pt x="7177" y="1545"/>
                      <a:pt x="7436" y="1781"/>
                    </a:cubicBezTo>
                    <a:cubicBezTo>
                      <a:pt x="7977" y="2274"/>
                      <a:pt x="8040" y="3099"/>
                      <a:pt x="7582" y="3661"/>
                    </a:cubicBezTo>
                    <a:lnTo>
                      <a:pt x="8914" y="2336"/>
                    </a:lnTo>
                    <a:cubicBezTo>
                      <a:pt x="9004" y="1740"/>
                      <a:pt x="8872" y="1192"/>
                      <a:pt x="8498" y="817"/>
                    </a:cubicBezTo>
                    <a:cubicBezTo>
                      <a:pt x="7953" y="273"/>
                      <a:pt x="7239" y="0"/>
                      <a:pt x="652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15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" name="Google Shape;6024;p61">
                <a:extLst>
                  <a:ext uri="{FF2B5EF4-FFF2-40B4-BE49-F238E27FC236}">
                    <a16:creationId xmlns:a16="http://schemas.microsoft.com/office/drawing/2014/main" id="{71369B65-94F6-DCAA-BDD9-BD4BBB886F7A}"/>
                  </a:ext>
                </a:extLst>
              </p:cNvPr>
              <p:cNvSpPr/>
              <p:nvPr/>
            </p:nvSpPr>
            <p:spPr>
              <a:xfrm>
                <a:off x="7556161" y="2553368"/>
                <a:ext cx="36650" cy="22253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847" extrusionOk="0">
                    <a:moveTo>
                      <a:pt x="653" y="0"/>
                    </a:moveTo>
                    <a:lnTo>
                      <a:pt x="1" y="645"/>
                    </a:lnTo>
                    <a:cubicBezTo>
                      <a:pt x="209" y="736"/>
                      <a:pt x="431" y="798"/>
                      <a:pt x="646" y="847"/>
                    </a:cubicBezTo>
                    <a:lnTo>
                      <a:pt x="1395" y="104"/>
                    </a:lnTo>
                    <a:cubicBezTo>
                      <a:pt x="1145" y="104"/>
                      <a:pt x="895" y="70"/>
                      <a:pt x="653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15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0" name="Rectangle 9">
              <a:hlinkClick r:id="rId3"/>
              <a:extLst>
                <a:ext uri="{FF2B5EF4-FFF2-40B4-BE49-F238E27FC236}">
                  <a16:creationId xmlns:a16="http://schemas.microsoft.com/office/drawing/2014/main" id="{E8C6B3D5-7F01-2D79-86ED-94BA2B4F3021}"/>
                </a:ext>
              </a:extLst>
            </p:cNvPr>
            <p:cNvSpPr/>
            <p:nvPr/>
          </p:nvSpPr>
          <p:spPr>
            <a:xfrm>
              <a:off x="5026005" y="1732318"/>
              <a:ext cx="499273" cy="5104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 noProof="0"/>
            </a:p>
          </p:txBody>
        </p:sp>
      </p:grpSp>
      <p:pic>
        <p:nvPicPr>
          <p:cNvPr id="12" name="Picture 11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3099B9B8-79E6-34B1-B6D9-6CB85D032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724" y="2077018"/>
            <a:ext cx="1582288" cy="159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5605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8C32D39B-097E-D4AB-6E67-775535C1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1">
            <a:extLst>
              <a:ext uri="{FF2B5EF4-FFF2-40B4-BE49-F238E27FC236}">
                <a16:creationId xmlns:a16="http://schemas.microsoft.com/office/drawing/2014/main" id="{005FE6A4-74F3-C5EE-737E-94BD406659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Contribution: </a:t>
            </a:r>
            <a:r>
              <a:rPr lang="en-GB" dirty="0"/>
              <a:t>Implementation</a:t>
            </a:r>
            <a:endParaRPr lang="en-150" noProof="0" dirty="0"/>
          </a:p>
        </p:txBody>
      </p:sp>
      <p:graphicFrame>
        <p:nvGraphicFramePr>
          <p:cNvPr id="1326" name="Google Shape;1326;p41">
            <a:extLst>
              <a:ext uri="{FF2B5EF4-FFF2-40B4-BE49-F238E27FC236}">
                <a16:creationId xmlns:a16="http://schemas.microsoft.com/office/drawing/2014/main" id="{8C0025E4-DECA-8C88-B3D5-B4A36D064B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8248336"/>
              </p:ext>
            </p:extLst>
          </p:nvPr>
        </p:nvGraphicFramePr>
        <p:xfrm>
          <a:off x="581208" y="1160784"/>
          <a:ext cx="7981585" cy="3537691"/>
        </p:xfrm>
        <a:graphic>
          <a:graphicData uri="http://schemas.openxmlformats.org/drawingml/2006/table">
            <a:tbl>
              <a:tblPr firstRow="1">
                <a:noFill/>
                <a:tableStyleId>{1C3C20FE-273D-4DCE-B553-EB37F81C8F43}</a:tableStyleId>
              </a:tblPr>
              <a:tblGrid>
                <a:gridCol w="237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2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kern="100" dirty="0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  <a:endParaRPr lang="en-BE" sz="16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b="1" kern="100" dirty="0">
                          <a:solidFill>
                            <a:schemeClr val="bg1"/>
                          </a:solidFill>
                          <a:effectLst/>
                        </a:rPr>
                        <a:t>who </a:t>
                      </a:r>
                      <a:r>
                        <a:rPr lang="en-GB" sz="1600" b="1" kern="100" dirty="0">
                          <a:solidFill>
                            <a:schemeClr val="bg1"/>
                          </a:solidFill>
                          <a:effectLst/>
                        </a:rPr>
                        <a:t>implemented</a:t>
                      </a:r>
                      <a:endParaRPr lang="en-BE" sz="16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b="1" kern="100" dirty="0">
                          <a:solidFill>
                            <a:schemeClr val="bg1"/>
                          </a:solidFill>
                          <a:effectLst/>
                        </a:rPr>
                        <a:t>what contributed</a:t>
                      </a:r>
                      <a:endParaRPr lang="en-BE" sz="16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Frontend setup &amp; core UI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Angelica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Front end </a:t>
                      </a:r>
                      <a:r>
                        <a:rPr lang="en-BE" sz="1600" kern="100" dirty="0">
                          <a:effectLst/>
                        </a:rPr>
                        <a:t>setup general UI structure</a:t>
                      </a:r>
                      <a:r>
                        <a:rPr lang="en-GB" sz="1600" kern="100" dirty="0">
                          <a:effectLst/>
                        </a:rPr>
                        <a:t>,</a:t>
                      </a:r>
                      <a:r>
                        <a:rPr lang="en-BE" sz="1600" kern="100" dirty="0">
                          <a:effectLst/>
                        </a:rPr>
                        <a:t> layout </a:t>
                      </a:r>
                      <a:r>
                        <a:rPr lang="en-BE" sz="1600" kern="100" dirty="0" err="1">
                          <a:effectLst/>
                        </a:rPr>
                        <a:t>stylin</a:t>
                      </a:r>
                      <a:r>
                        <a:rPr lang="en-GB" sz="1600" kern="100" dirty="0">
                          <a:effectLst/>
                        </a:rPr>
                        <a:t>g, light mode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43749"/>
                  </a:ext>
                </a:extLst>
              </a:tr>
              <a:tr h="533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>
                          <a:effectLst/>
                        </a:rPr>
                        <a:t>Explore page</a:t>
                      </a:r>
                      <a:endParaRPr lang="en-BE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>
                          <a:effectLst/>
                        </a:rPr>
                        <a:t>Angelica</a:t>
                      </a:r>
                      <a:endParaRPr lang="en-BE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Explore (main) page,</a:t>
                      </a:r>
                      <a:r>
                        <a:rPr lang="en-BE" sz="1600" kern="100" dirty="0">
                          <a:effectLst/>
                        </a:rPr>
                        <a:t> project listing filtering</a:t>
                      </a:r>
                      <a:r>
                        <a:rPr lang="en-GB" sz="1600" kern="100" dirty="0">
                          <a:effectLst/>
                        </a:rPr>
                        <a:t>, project cards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904409"/>
                  </a:ext>
                </a:extLst>
              </a:tr>
              <a:tr h="533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>
                          <a:effectLst/>
                        </a:rPr>
                        <a:t>Project pages</a:t>
                      </a:r>
                      <a:endParaRPr lang="en-BE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Angelica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View project page</a:t>
                      </a:r>
                      <a:r>
                        <a:rPr lang="en-GB" sz="1600" kern="100" dirty="0">
                          <a:effectLst/>
                        </a:rPr>
                        <a:t>,</a:t>
                      </a:r>
                      <a:r>
                        <a:rPr lang="en-BE" sz="1600" kern="100" dirty="0">
                          <a:effectLst/>
                        </a:rPr>
                        <a:t> upload project page</a:t>
                      </a:r>
                      <a:r>
                        <a:rPr lang="en-GB" sz="1600" kern="100" dirty="0">
                          <a:effectLst/>
                        </a:rPr>
                        <a:t>,</a:t>
                      </a:r>
                      <a:r>
                        <a:rPr lang="en-BE" sz="1600" kern="100" dirty="0">
                          <a:effectLst/>
                        </a:rPr>
                        <a:t> edit project functionality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432296"/>
                  </a:ext>
                </a:extLst>
              </a:tr>
              <a:tr h="533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User profiles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>
                          <a:effectLst/>
                        </a:rPr>
                        <a:t>Angelica</a:t>
                      </a:r>
                      <a:endParaRPr lang="en-BE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Profile page</a:t>
                      </a:r>
                      <a:r>
                        <a:rPr lang="en-GB" sz="1600" kern="100" dirty="0">
                          <a:effectLst/>
                        </a:rPr>
                        <a:t>, </a:t>
                      </a:r>
                      <a:r>
                        <a:rPr lang="en-BE" sz="1600" kern="100" dirty="0">
                          <a:effectLst/>
                        </a:rPr>
                        <a:t>visibility</a:t>
                      </a:r>
                      <a:r>
                        <a:rPr lang="en-GB" sz="1600" kern="100" dirty="0">
                          <a:effectLst/>
                        </a:rPr>
                        <a:t>, pending projects view, upload profile picture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881442"/>
                  </a:ext>
                </a:extLst>
              </a:tr>
              <a:tr h="533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Admin features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>
                          <a:effectLst/>
                        </a:rPr>
                        <a:t>Angelica</a:t>
                      </a:r>
                      <a:endParaRPr lang="en-BE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Admin logs</a:t>
                      </a:r>
                      <a:r>
                        <a:rPr lang="en-GB" sz="1600" kern="100" dirty="0">
                          <a:effectLst/>
                        </a:rPr>
                        <a:t>,</a:t>
                      </a:r>
                      <a:r>
                        <a:rPr lang="en-BE" sz="1600" kern="100" dirty="0">
                          <a:effectLst/>
                        </a:rPr>
                        <a:t> pending project review</a:t>
                      </a:r>
                      <a:r>
                        <a:rPr lang="en-GB" sz="1600" kern="100" dirty="0">
                          <a:effectLst/>
                        </a:rPr>
                        <a:t>,</a:t>
                      </a:r>
                      <a:r>
                        <a:rPr lang="en-BE" sz="1600" kern="100" dirty="0">
                          <a:effectLst/>
                        </a:rPr>
                        <a:t> user </a:t>
                      </a:r>
                      <a:r>
                        <a:rPr lang="en-BE" sz="1600" kern="100" dirty="0" err="1">
                          <a:effectLst/>
                        </a:rPr>
                        <a:t>managemen</a:t>
                      </a:r>
                      <a:r>
                        <a:rPr lang="en-GB" sz="1600" kern="100" dirty="0">
                          <a:effectLst/>
                        </a:rPr>
                        <a:t>t,</a:t>
                      </a:r>
                      <a:r>
                        <a:rPr lang="en-BE" sz="1600" kern="100" dirty="0">
                          <a:effectLst/>
                        </a:rPr>
                        <a:t> notifications</a:t>
                      </a:r>
                      <a:r>
                        <a:rPr lang="en-GB" sz="1600" kern="100" dirty="0">
                          <a:effectLst/>
                        </a:rPr>
                        <a:t>, topic and course management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608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60539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1A582-EECB-D2EE-5A67-2EBAC7F64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Contribution: Implementation</a:t>
            </a:r>
            <a:endParaRPr lang="en-BE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412109-8446-A77C-F88B-B9D873DE1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417155"/>
              </p:ext>
            </p:extLst>
          </p:nvPr>
        </p:nvGraphicFramePr>
        <p:xfrm>
          <a:off x="849154" y="1092512"/>
          <a:ext cx="7445691" cy="3605963"/>
        </p:xfrm>
        <a:graphic>
          <a:graphicData uri="http://schemas.openxmlformats.org/drawingml/2006/table">
            <a:tbl>
              <a:tblPr>
                <a:noFill/>
                <a:tableStyleId>{1C3C20FE-273D-4DCE-B553-EB37F81C8F43}</a:tableStyleId>
              </a:tblPr>
              <a:tblGrid>
                <a:gridCol w="2212839">
                  <a:extLst>
                    <a:ext uri="{9D8B030D-6E8A-4147-A177-3AD203B41FA5}">
                      <a16:colId xmlns:a16="http://schemas.microsoft.com/office/drawing/2014/main" val="672257481"/>
                    </a:ext>
                  </a:extLst>
                </a:gridCol>
                <a:gridCol w="2021384">
                  <a:extLst>
                    <a:ext uri="{9D8B030D-6E8A-4147-A177-3AD203B41FA5}">
                      <a16:colId xmlns:a16="http://schemas.microsoft.com/office/drawing/2014/main" val="2300258604"/>
                    </a:ext>
                  </a:extLst>
                </a:gridCol>
                <a:gridCol w="3211468">
                  <a:extLst>
                    <a:ext uri="{9D8B030D-6E8A-4147-A177-3AD203B41FA5}">
                      <a16:colId xmlns:a16="http://schemas.microsoft.com/office/drawing/2014/main" val="1142834273"/>
                    </a:ext>
                  </a:extLst>
                </a:gridCol>
              </a:tblGrid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kern="100" dirty="0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  <a:endParaRPr lang="en-BE" sz="16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noFill/>
                      <a:prstDash val="dashDot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dashDot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b="1" kern="100" dirty="0">
                          <a:solidFill>
                            <a:schemeClr val="bg1"/>
                          </a:solidFill>
                          <a:effectLst/>
                        </a:rPr>
                        <a:t>who </a:t>
                      </a:r>
                      <a:r>
                        <a:rPr lang="en-GB" sz="1600" b="1" kern="100" dirty="0">
                          <a:solidFill>
                            <a:schemeClr val="bg1"/>
                          </a:solidFill>
                          <a:effectLst/>
                        </a:rPr>
                        <a:t>implemented</a:t>
                      </a:r>
                      <a:endParaRPr lang="en-BE" sz="16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dashDot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b="1" kern="100" dirty="0">
                          <a:solidFill>
                            <a:schemeClr val="bg1"/>
                          </a:solidFill>
                          <a:effectLst/>
                        </a:rPr>
                        <a:t>what contributed</a:t>
                      </a:r>
                      <a:endParaRPr lang="en-BE" sz="16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dashDot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637832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Notifications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Angelica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Notification (edit, delete, approval, ratings) tab and page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348781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Bookmarks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Angelica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Bookmarking project</a:t>
                      </a:r>
                      <a:r>
                        <a:rPr lang="en-GB" sz="1600" kern="100" dirty="0">
                          <a:effectLst/>
                        </a:rPr>
                        <a:t>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469310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>
                          <a:effectLst/>
                        </a:rPr>
                        <a:t>Reporting system</a:t>
                      </a:r>
                      <a:endParaRPr lang="en-BE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Angelica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Report user and report </a:t>
                      </a:r>
                      <a:r>
                        <a:rPr lang="en-BE" sz="1600" kern="100" dirty="0" err="1">
                          <a:effectLst/>
                        </a:rPr>
                        <a:t>projec</a:t>
                      </a:r>
                      <a:r>
                        <a:rPr lang="en-GB" sz="1600" kern="100" dirty="0" err="1">
                          <a:effectLst/>
                        </a:rPr>
                        <a:t>ts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100436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Authentication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Angelica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Login</a:t>
                      </a:r>
                      <a:r>
                        <a:rPr lang="en-GB" sz="1600" kern="100" dirty="0">
                          <a:effectLst/>
                        </a:rPr>
                        <a:t>/</a:t>
                      </a:r>
                      <a:r>
                        <a:rPr lang="en-BE" sz="1600" kern="100" dirty="0">
                          <a:effectLst/>
                        </a:rPr>
                        <a:t>sign</a:t>
                      </a:r>
                      <a:r>
                        <a:rPr lang="en-GB" sz="1600" kern="100" dirty="0">
                          <a:effectLst/>
                        </a:rPr>
                        <a:t> </a:t>
                      </a:r>
                      <a:r>
                        <a:rPr lang="en-BE" sz="1600" kern="100" dirty="0">
                          <a:effectLst/>
                        </a:rPr>
                        <a:t>up UI</a:t>
                      </a:r>
                      <a:r>
                        <a:rPr lang="en-GB" sz="1600" kern="100" dirty="0">
                          <a:effectLst/>
                        </a:rPr>
                        <a:t>, a</a:t>
                      </a:r>
                      <a:r>
                        <a:rPr lang="en-BE" sz="1600" kern="100" dirty="0" err="1">
                          <a:effectLst/>
                        </a:rPr>
                        <a:t>ccount</a:t>
                      </a:r>
                      <a:r>
                        <a:rPr lang="en-BE" sz="1600" kern="100" dirty="0">
                          <a:effectLst/>
                        </a:rPr>
                        <a:t> info handling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941931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Unit </a:t>
                      </a:r>
                      <a:r>
                        <a:rPr lang="en-BE" sz="1600" kern="100" dirty="0">
                          <a:effectLst/>
                        </a:rPr>
                        <a:t>tests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Angelica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B</a:t>
                      </a:r>
                      <a:r>
                        <a:rPr lang="en-BE" sz="1600" kern="100" dirty="0" err="1">
                          <a:effectLst/>
                        </a:rPr>
                        <a:t>ackend</a:t>
                      </a:r>
                      <a:r>
                        <a:rPr lang="en-BE" sz="1600" kern="100" dirty="0">
                          <a:effectLst/>
                        </a:rPr>
                        <a:t> unit tests</a:t>
                      </a:r>
                      <a:r>
                        <a:rPr lang="en-GB" sz="1600" kern="100" dirty="0">
                          <a:effectLst/>
                        </a:rPr>
                        <a:t> (DB and API endpoints)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158100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Backups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Angelica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Script for the automated backups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556483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Rating system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Angelica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Rating UI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057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72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542BB-91DF-441F-CB19-808FFAF6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Contribution: Implementation</a:t>
            </a:r>
            <a:endParaRPr lang="en-BE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662E12-63E2-7687-72F8-1593710C3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792967"/>
              </p:ext>
            </p:extLst>
          </p:nvPr>
        </p:nvGraphicFramePr>
        <p:xfrm>
          <a:off x="811439" y="1172489"/>
          <a:ext cx="7521123" cy="3222160"/>
        </p:xfrm>
        <a:graphic>
          <a:graphicData uri="http://schemas.openxmlformats.org/drawingml/2006/table">
            <a:tbl>
              <a:tblPr>
                <a:noFill/>
                <a:tableStyleId>{1C3C20FE-273D-4DCE-B553-EB37F81C8F43}</a:tableStyleId>
              </a:tblPr>
              <a:tblGrid>
                <a:gridCol w="2235257">
                  <a:extLst>
                    <a:ext uri="{9D8B030D-6E8A-4147-A177-3AD203B41FA5}">
                      <a16:colId xmlns:a16="http://schemas.microsoft.com/office/drawing/2014/main" val="4124823396"/>
                    </a:ext>
                  </a:extLst>
                </a:gridCol>
                <a:gridCol w="2041863">
                  <a:extLst>
                    <a:ext uri="{9D8B030D-6E8A-4147-A177-3AD203B41FA5}">
                      <a16:colId xmlns:a16="http://schemas.microsoft.com/office/drawing/2014/main" val="854111116"/>
                    </a:ext>
                  </a:extLst>
                </a:gridCol>
                <a:gridCol w="3244003">
                  <a:extLst>
                    <a:ext uri="{9D8B030D-6E8A-4147-A177-3AD203B41FA5}">
                      <a16:colId xmlns:a16="http://schemas.microsoft.com/office/drawing/2014/main" val="448991706"/>
                    </a:ext>
                  </a:extLst>
                </a:gridCol>
              </a:tblGrid>
              <a:tr h="533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kern="100" dirty="0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  <a:endParaRPr lang="en-BE" sz="16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b="1" kern="100" dirty="0">
                          <a:solidFill>
                            <a:schemeClr val="bg1"/>
                          </a:solidFill>
                          <a:effectLst/>
                        </a:rPr>
                        <a:t>who </a:t>
                      </a:r>
                      <a:r>
                        <a:rPr lang="en-GB" sz="1600" b="1" kern="100" dirty="0">
                          <a:solidFill>
                            <a:schemeClr val="bg1"/>
                          </a:solidFill>
                          <a:effectLst/>
                        </a:rPr>
                        <a:t>implemented</a:t>
                      </a:r>
                      <a:endParaRPr lang="en-BE" sz="16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b="1" kern="100" dirty="0">
                          <a:solidFill>
                            <a:schemeClr val="bg1"/>
                          </a:solidFill>
                          <a:effectLst/>
                        </a:rPr>
                        <a:t>what contributed</a:t>
                      </a:r>
                      <a:endParaRPr lang="en-BE" sz="16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68820"/>
                  </a:ext>
                </a:extLst>
              </a:tr>
              <a:tr h="533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Authentication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Robert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Login/ sign up logic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464746"/>
                  </a:ext>
                </a:extLst>
              </a:tr>
              <a:tr h="533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Admin moderation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Robert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Admin approval of projects topic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911505"/>
                  </a:ext>
                </a:extLst>
              </a:tr>
              <a:tr h="533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Upload Projects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Robert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Edit projects and edit profile UI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337069"/>
                  </a:ext>
                </a:extLst>
              </a:tr>
              <a:tr h="533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>
                          <a:effectLst/>
                        </a:rPr>
                        <a:t>Backend database &amp; API</a:t>
                      </a:r>
                      <a:endParaRPr lang="en-BE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Robert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CRUD database</a:t>
                      </a:r>
                      <a:r>
                        <a:rPr lang="en-GB" sz="1600" kern="100" dirty="0">
                          <a:effectLst/>
                        </a:rPr>
                        <a:t>, </a:t>
                      </a:r>
                      <a:r>
                        <a:rPr lang="en-BE" sz="1600" kern="100" dirty="0">
                          <a:effectLst/>
                        </a:rPr>
                        <a:t>API endpoints</a:t>
                      </a:r>
                      <a:r>
                        <a:rPr lang="en-GB" sz="1600" kern="100" dirty="0">
                          <a:effectLst/>
                        </a:rPr>
                        <a:t>,</a:t>
                      </a:r>
                      <a:r>
                        <a:rPr lang="en-BE" sz="1600" kern="100" dirty="0">
                          <a:effectLst/>
                        </a:rPr>
                        <a:t> database integration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719837"/>
                  </a:ext>
                </a:extLst>
              </a:tr>
              <a:tr h="533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UI styling tweaks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Robert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Colour changes and minor UI tweaks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253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752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A4A61-5000-EBBF-A94F-A5287E001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Contribution: Implementation</a:t>
            </a:r>
            <a:endParaRPr lang="en-BE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9DDDD9-4F83-86AE-D7AA-B580F68A3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074499"/>
              </p:ext>
            </p:extLst>
          </p:nvPr>
        </p:nvGraphicFramePr>
        <p:xfrm>
          <a:off x="849155" y="1177806"/>
          <a:ext cx="7445691" cy="2120230"/>
        </p:xfrm>
        <a:graphic>
          <a:graphicData uri="http://schemas.openxmlformats.org/drawingml/2006/table">
            <a:tbl>
              <a:tblPr>
                <a:noFill/>
                <a:tableStyleId>{1C3C20FE-273D-4DCE-B553-EB37F81C8F43}</a:tableStyleId>
              </a:tblPr>
              <a:tblGrid>
                <a:gridCol w="2212839">
                  <a:extLst>
                    <a:ext uri="{9D8B030D-6E8A-4147-A177-3AD203B41FA5}">
                      <a16:colId xmlns:a16="http://schemas.microsoft.com/office/drawing/2014/main" val="3748615669"/>
                    </a:ext>
                  </a:extLst>
                </a:gridCol>
                <a:gridCol w="2021384">
                  <a:extLst>
                    <a:ext uri="{9D8B030D-6E8A-4147-A177-3AD203B41FA5}">
                      <a16:colId xmlns:a16="http://schemas.microsoft.com/office/drawing/2014/main" val="2659871031"/>
                    </a:ext>
                  </a:extLst>
                </a:gridCol>
                <a:gridCol w="3211468">
                  <a:extLst>
                    <a:ext uri="{9D8B030D-6E8A-4147-A177-3AD203B41FA5}">
                      <a16:colId xmlns:a16="http://schemas.microsoft.com/office/drawing/2014/main" val="526275120"/>
                    </a:ext>
                  </a:extLst>
                </a:gridCol>
              </a:tblGrid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kern="100" dirty="0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  <a:endParaRPr lang="en-BE" sz="16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b="1" kern="100" dirty="0">
                          <a:solidFill>
                            <a:schemeClr val="bg1"/>
                          </a:solidFill>
                          <a:effectLst/>
                        </a:rPr>
                        <a:t>who </a:t>
                      </a:r>
                      <a:r>
                        <a:rPr lang="en-GB" sz="1600" b="1" kern="100" dirty="0" err="1">
                          <a:solidFill>
                            <a:schemeClr val="bg1"/>
                          </a:solidFill>
                          <a:effectLst/>
                        </a:rPr>
                        <a:t>implemente</a:t>
                      </a:r>
                      <a:r>
                        <a:rPr lang="en-BE" sz="1600" b="1" kern="100" dirty="0">
                          <a:solidFill>
                            <a:schemeClr val="bg1"/>
                          </a:solidFill>
                          <a:effectLst/>
                        </a:rPr>
                        <a:t>d</a:t>
                      </a:r>
                      <a:endParaRPr lang="en-BE" sz="16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b="1" kern="100" dirty="0">
                          <a:solidFill>
                            <a:schemeClr val="bg1"/>
                          </a:solidFill>
                          <a:effectLst/>
                        </a:rPr>
                        <a:t>what contributed</a:t>
                      </a:r>
                      <a:endParaRPr lang="en-BE" sz="16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128999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User Profiles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Louis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Public user profiles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969530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Misc fixes &amp; config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Louis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File extension fixes</a:t>
                      </a:r>
                      <a:r>
                        <a:rPr lang="en-GB" sz="1600" kern="100" dirty="0">
                          <a:effectLst/>
                        </a:rPr>
                        <a:t>,</a:t>
                      </a:r>
                      <a:r>
                        <a:rPr lang="en-BE" sz="1600" kern="100" dirty="0">
                          <a:effectLst/>
                        </a:rPr>
                        <a:t> API</a:t>
                      </a:r>
                      <a:r>
                        <a:rPr lang="en-GB" sz="1600" kern="100" dirty="0">
                          <a:effectLst/>
                        </a:rPr>
                        <a:t>,</a:t>
                      </a:r>
                      <a:r>
                        <a:rPr lang="en-BE" sz="1600" kern="100" dirty="0">
                          <a:effectLst/>
                        </a:rPr>
                        <a:t> URL fixes</a:t>
                      </a:r>
                      <a:endParaRPr lang="en-GB" sz="1600" kern="100" dirty="0">
                        <a:effectLst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Dot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431900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CI / DevOps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Louis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Backend CI workflow test automation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rgbClr val="D9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051810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Hosting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BE" sz="1600" kern="100" dirty="0">
                          <a:effectLst/>
                        </a:rPr>
                        <a:t>Louis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Deploying and hosting application</a:t>
                      </a:r>
                      <a:endParaRPr lang="en-BE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3180" marR="23180" marT="0" marB="0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071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8168857"/>
      </p:ext>
    </p:extLst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</Words>
  <Application>Microsoft Office PowerPoint</Application>
  <PresentationFormat>On-screen Show (16:9)</PresentationFormat>
  <Paragraphs>273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Calibri</vt:lpstr>
      <vt:lpstr>Epilogue</vt:lpstr>
      <vt:lpstr>Wingdings</vt:lpstr>
      <vt:lpstr>Raleway</vt:lpstr>
      <vt:lpstr>Aptos</vt:lpstr>
      <vt:lpstr>Lato</vt:lpstr>
      <vt:lpstr>Nunito Light</vt:lpstr>
      <vt:lpstr>Arial</vt:lpstr>
      <vt:lpstr>Multimedia Software Pitch Deck by Slidesgo</vt:lpstr>
      <vt:lpstr>University Student Project Repository</vt:lpstr>
      <vt:lpstr>Table of contents</vt:lpstr>
      <vt:lpstr>Why make a student project repository? </vt:lpstr>
      <vt:lpstr>Users</vt:lpstr>
      <vt:lpstr>Functional Requirements</vt:lpstr>
      <vt:lpstr>Non-Functional Requirements</vt:lpstr>
      <vt:lpstr>Requirements: Not Met</vt:lpstr>
      <vt:lpstr>Use Case</vt:lpstr>
      <vt:lpstr>Use Case</vt:lpstr>
      <vt:lpstr>Use Case</vt:lpstr>
      <vt:lpstr>System Architecture</vt:lpstr>
      <vt:lpstr>Sequence diagram</vt:lpstr>
      <vt:lpstr>Class diagram</vt:lpstr>
      <vt:lpstr>Database</vt:lpstr>
      <vt:lpstr>From idea to project: be publicly available</vt:lpstr>
      <vt:lpstr>Conclusion &amp; retrospective</vt:lpstr>
      <vt:lpstr>LIVE DEMO</vt:lpstr>
      <vt:lpstr>Contribution: Implementation</vt:lpstr>
      <vt:lpstr>Contribution: Implementation</vt:lpstr>
      <vt:lpstr>Contribution: Implementation</vt:lpstr>
      <vt:lpstr>Contribution: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Student Project Repository</dc:title>
  <cp:lastModifiedBy>RINGS Angelica</cp:lastModifiedBy>
  <cp:revision>39</cp:revision>
  <dcterms:modified xsi:type="dcterms:W3CDTF">2026-02-05T12:13:42Z</dcterms:modified>
</cp:coreProperties>
</file>